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4"/>
  </p:notesMasterIdLst>
  <p:sldIdLst>
    <p:sldId id="256" r:id="rId2"/>
    <p:sldId id="259" r:id="rId3"/>
    <p:sldId id="261" r:id="rId4"/>
    <p:sldId id="260" r:id="rId5"/>
    <p:sldId id="262" r:id="rId6"/>
    <p:sldId id="263" r:id="rId7"/>
    <p:sldId id="264" r:id="rId8"/>
    <p:sldId id="265" r:id="rId9"/>
    <p:sldId id="266" r:id="rId10"/>
    <p:sldId id="267"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CC"/>
    <a:srgbClr val="FD6060"/>
    <a:srgbClr val="83758B"/>
    <a:srgbClr val="141719"/>
    <a:srgbClr val="A20000"/>
    <a:srgbClr val="083040"/>
    <a:srgbClr val="3E3955"/>
    <a:srgbClr val="004982"/>
    <a:srgbClr val="4B4B4B"/>
    <a:srgbClr val="7285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629" autoAdjust="0"/>
  </p:normalViewPr>
  <p:slideViewPr>
    <p:cSldViewPr snapToGrid="0">
      <p:cViewPr>
        <p:scale>
          <a:sx n="75" d="100"/>
          <a:sy n="75" d="100"/>
        </p:scale>
        <p:origin x="9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7885B-06EE-4A99-9339-ADBDD9D25A22}" type="datetimeFigureOut">
              <a:rPr lang="en-IN" smtClean="0"/>
              <a:t>13-01-2025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B21A8-CF0D-4676-A41F-1E91F42D0A1B}" type="slidenum">
              <a:rPr lang="en-IN" smtClean="0"/>
              <a:t>‹#›</a:t>
            </a:fld>
            <a:endParaRPr lang="en-IN"/>
          </a:p>
        </p:txBody>
      </p:sp>
    </p:spTree>
    <p:extLst>
      <p:ext uri="{BB962C8B-B14F-4D97-AF65-F5344CB8AC3E}">
        <p14:creationId xmlns:p14="http://schemas.microsoft.com/office/powerpoint/2010/main" val="158975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4B21A8-CF0D-4676-A41F-1E91F42D0A1B}" type="slidenum">
              <a:rPr lang="en-IN" smtClean="0"/>
              <a:t>7</a:t>
            </a:fld>
            <a:endParaRPr lang="en-IN"/>
          </a:p>
        </p:txBody>
      </p:sp>
    </p:spTree>
    <p:extLst>
      <p:ext uri="{BB962C8B-B14F-4D97-AF65-F5344CB8AC3E}">
        <p14:creationId xmlns:p14="http://schemas.microsoft.com/office/powerpoint/2010/main" val="572059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146F141-0D18-4D5E-A671-D48ED45C339F}"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C7EE4-647F-4057-B262-15DE8A874479}"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28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46F141-0D18-4D5E-A671-D48ED45C339F}"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4262730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46F141-0D18-4D5E-A671-D48ED45C339F}"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C7EE4-647F-4057-B262-15DE8A874479}"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7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46F141-0D18-4D5E-A671-D48ED45C339F}"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775960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46F141-0D18-4D5E-A671-D48ED45C339F}" type="datetimeFigureOut">
              <a:rPr lang="en-IN" smtClean="0"/>
              <a:t>13-01-2025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1295338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46F141-0D18-4D5E-A671-D48ED45C339F}" type="datetimeFigureOut">
              <a:rPr lang="en-IN" smtClean="0"/>
              <a:t>13-01-2025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3873516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46F141-0D18-4D5E-A671-D48ED45C339F}" type="datetimeFigureOut">
              <a:rPr lang="en-IN" smtClean="0"/>
              <a:t>13-01-2025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370880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46F141-0D18-4D5E-A671-D48ED45C339F}"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4076524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46F141-0D18-4D5E-A671-D48ED45C339F}"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C7EE4-647F-4057-B262-15DE8A874479}"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429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46F141-0D18-4D5E-A671-D48ED45C339F}"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C7EE4-647F-4057-B262-15DE8A874479}" type="slidenum">
              <a:rPr lang="en-IN" smtClean="0"/>
              <a:t>‹#›</a:t>
            </a:fld>
            <a:endParaRPr lang="en-IN"/>
          </a:p>
        </p:txBody>
      </p:sp>
    </p:spTree>
    <p:extLst>
      <p:ext uri="{BB962C8B-B14F-4D97-AF65-F5344CB8AC3E}">
        <p14:creationId xmlns:p14="http://schemas.microsoft.com/office/powerpoint/2010/main" val="3818095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46F141-0D18-4D5E-A671-D48ED45C339F}"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C7EE4-647F-4057-B262-15DE8A874479}"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18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146F141-0D18-4D5E-A671-D48ED45C339F}" type="datetimeFigureOut">
              <a:rPr lang="en-IN" smtClean="0"/>
              <a:t>13-01-2025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9EC7EE4-647F-4057-B262-15DE8A874479}"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0252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blog.emb.global/understanding-insight-generation/"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8C87CBC-5DCC-4CBB-6EDD-F77EF2BD119D}"/>
              </a:ext>
            </a:extLst>
          </p:cNvPr>
          <p:cNvGraphicFramePr>
            <a:graphicFrameLocks noGrp="1"/>
          </p:cNvGraphicFramePr>
          <p:nvPr>
            <p:extLst>
              <p:ext uri="{D42A27DB-BD31-4B8C-83A1-F6EECF244321}">
                <p14:modId xmlns:p14="http://schemas.microsoft.com/office/powerpoint/2010/main" val="2632522922"/>
              </p:ext>
            </p:extLst>
          </p:nvPr>
        </p:nvGraphicFramePr>
        <p:xfrm>
          <a:off x="0" y="0"/>
          <a:ext cx="12192000" cy="685799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552541127"/>
                    </a:ext>
                  </a:extLst>
                </a:gridCol>
              </a:tblGrid>
              <a:tr h="6857999">
                <a:tc>
                  <a:txBody>
                    <a:bodyPr/>
                    <a:lstStyle/>
                    <a:p>
                      <a:endParaRPr lang="en-IN" dirty="0">
                        <a:solidFill>
                          <a:schemeClr val="tx1"/>
                        </a:solidFill>
                      </a:endParaRPr>
                    </a:p>
                  </a:txBody>
                  <a:tcPr>
                    <a:solidFill>
                      <a:schemeClr val="accent2"/>
                    </a:solidFill>
                  </a:tcPr>
                </a:tc>
                <a:extLst>
                  <a:ext uri="{0D108BD9-81ED-4DB2-BD59-A6C34878D82A}">
                    <a16:rowId xmlns:a16="http://schemas.microsoft.com/office/drawing/2014/main" val="534601280"/>
                  </a:ext>
                </a:extLst>
              </a:tr>
            </a:tbl>
          </a:graphicData>
        </a:graphic>
      </p:graphicFrame>
      <p:pic>
        <p:nvPicPr>
          <p:cNvPr id="15" name="Picture 14">
            <a:extLst>
              <a:ext uri="{FF2B5EF4-FFF2-40B4-BE49-F238E27FC236}">
                <a16:creationId xmlns:a16="http://schemas.microsoft.com/office/drawing/2014/main" id="{822B1DAD-9470-F4E7-5C9F-867B0CE3E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421820" cy="6857999"/>
          </a:xfrm>
          <a:prstGeom prst="rect">
            <a:avLst/>
          </a:prstGeom>
        </p:spPr>
      </p:pic>
      <p:sp>
        <p:nvSpPr>
          <p:cNvPr id="16" name="Oval 15">
            <a:extLst>
              <a:ext uri="{FF2B5EF4-FFF2-40B4-BE49-F238E27FC236}">
                <a16:creationId xmlns:a16="http://schemas.microsoft.com/office/drawing/2014/main" id="{8BFF2E3B-8A00-E74F-A23A-512DF36B2BCD}"/>
              </a:ext>
            </a:extLst>
          </p:cNvPr>
          <p:cNvSpPr/>
          <p:nvPr/>
        </p:nvSpPr>
        <p:spPr>
          <a:xfrm>
            <a:off x="6716110" y="218210"/>
            <a:ext cx="5181600" cy="3002972"/>
          </a:xfrm>
          <a:prstGeom prst="ellipse">
            <a:avLst/>
          </a:prstGeom>
          <a:solidFill>
            <a:srgbClr val="99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u="sng" dirty="0">
                <a:solidFill>
                  <a:srgbClr val="FF0000"/>
                </a:solidFill>
                <a:latin typeface="Arial Black" panose="020B0A04020102020204" pitchFamily="34" charset="0"/>
              </a:rPr>
              <a:t>Welcome to the project of Next Hikes for IT Solution</a:t>
            </a:r>
            <a:endParaRPr lang="en-IN" sz="3600" b="1" u="sng" dirty="0">
              <a:solidFill>
                <a:srgbClr val="FF0000"/>
              </a:solidFill>
              <a:latin typeface="Arial Black" panose="020B0A04020102020204" pitchFamily="34" charset="0"/>
            </a:endParaRPr>
          </a:p>
        </p:txBody>
      </p:sp>
      <p:graphicFrame>
        <p:nvGraphicFramePr>
          <p:cNvPr id="17" name="Table 16">
            <a:extLst>
              <a:ext uri="{FF2B5EF4-FFF2-40B4-BE49-F238E27FC236}">
                <a16:creationId xmlns:a16="http://schemas.microsoft.com/office/drawing/2014/main" id="{3CBFDC69-1FC2-7EB4-958B-C4D28B167C30}"/>
              </a:ext>
            </a:extLst>
          </p:cNvPr>
          <p:cNvGraphicFramePr>
            <a:graphicFrameLocks noGrp="1"/>
          </p:cNvGraphicFramePr>
          <p:nvPr>
            <p:extLst>
              <p:ext uri="{D42A27DB-BD31-4B8C-83A1-F6EECF244321}">
                <p14:modId xmlns:p14="http://schemas.microsoft.com/office/powerpoint/2010/main" val="1016073747"/>
              </p:ext>
            </p:extLst>
          </p:nvPr>
        </p:nvGraphicFramePr>
        <p:xfrm>
          <a:off x="6421821" y="4004441"/>
          <a:ext cx="5770179" cy="2853558"/>
        </p:xfrm>
        <a:graphic>
          <a:graphicData uri="http://schemas.openxmlformats.org/drawingml/2006/table">
            <a:tbl>
              <a:tblPr firstRow="1" bandRow="1">
                <a:tableStyleId>{5C22544A-7EE6-4342-B048-85BDC9FD1C3A}</a:tableStyleId>
              </a:tblPr>
              <a:tblGrid>
                <a:gridCol w="5770179">
                  <a:extLst>
                    <a:ext uri="{9D8B030D-6E8A-4147-A177-3AD203B41FA5}">
                      <a16:colId xmlns:a16="http://schemas.microsoft.com/office/drawing/2014/main" val="535604991"/>
                    </a:ext>
                  </a:extLst>
                </a:gridCol>
              </a:tblGrid>
              <a:tr h="2853558">
                <a:tc>
                  <a:txBody>
                    <a:bodyPr/>
                    <a:lstStyle/>
                    <a:p>
                      <a:r>
                        <a:rPr lang="en-US" sz="3200" dirty="0">
                          <a:solidFill>
                            <a:srgbClr val="FFC000"/>
                          </a:solidFill>
                          <a:latin typeface="Arial Black" panose="020B0A04020102020204" pitchFamily="34" charset="0"/>
                        </a:rPr>
                        <a:t>Project name </a:t>
                      </a:r>
                      <a:r>
                        <a:rPr lang="en-US" sz="3200" dirty="0"/>
                        <a:t>:  </a:t>
                      </a:r>
                      <a:r>
                        <a:rPr lang="en-US" sz="3200" b="1" i="0" u="none" strike="noStrike" kern="1200" baseline="0" dirty="0">
                          <a:solidFill>
                            <a:schemeClr val="lt1"/>
                          </a:solidFill>
                          <a:latin typeface="+mn-lt"/>
                          <a:ea typeface="+mn-ea"/>
                          <a:cs typeface="+mn-cs"/>
                        </a:rPr>
                        <a:t>Data Harmonization and Insights Extraction.</a:t>
                      </a:r>
                      <a:endParaRPr lang="en-IN" sz="3200" b="1" i="0" u="none" strike="noStrike" kern="1200" baseline="0" dirty="0">
                        <a:solidFill>
                          <a:schemeClr val="lt1"/>
                        </a:solidFill>
                        <a:latin typeface="+mn-lt"/>
                        <a:ea typeface="+mn-ea"/>
                        <a:cs typeface="+mn-cs"/>
                      </a:endParaRPr>
                    </a:p>
                    <a:p>
                      <a:r>
                        <a:rPr lang="en-US" sz="1800" b="0" i="0" u="none" strike="noStrike" kern="1200" baseline="0" dirty="0">
                          <a:solidFill>
                            <a:schemeClr val="lt1"/>
                          </a:solidFill>
                          <a:latin typeface="+mn-lt"/>
                          <a:ea typeface="+mn-ea"/>
                          <a:cs typeface="+mn-cs"/>
                        </a:rPr>
                        <a:t> </a:t>
                      </a:r>
                    </a:p>
                    <a:p>
                      <a:endParaRPr lang="en-IN" dirty="0"/>
                    </a:p>
                    <a:p>
                      <a:endParaRPr lang="en-IN" dirty="0"/>
                    </a:p>
                    <a:p>
                      <a:r>
                        <a:rPr lang="en-IN" dirty="0">
                          <a:solidFill>
                            <a:schemeClr val="bg1">
                              <a:lumMod val="75000"/>
                            </a:schemeClr>
                          </a:solidFill>
                        </a:rPr>
                        <a:t>                </a:t>
                      </a:r>
                      <a:r>
                        <a:rPr lang="en-IN" sz="2800" dirty="0">
                          <a:solidFill>
                            <a:schemeClr val="bg1">
                              <a:lumMod val="75000"/>
                            </a:schemeClr>
                          </a:solidFill>
                          <a:latin typeface="Arial" panose="020B0604020202020204" pitchFamily="34" charset="0"/>
                          <a:cs typeface="Arial" panose="020B0604020202020204" pitchFamily="34" charset="0"/>
                        </a:rPr>
                        <a:t>FROM</a:t>
                      </a:r>
                      <a:r>
                        <a:rPr lang="en-IN" dirty="0">
                          <a:solidFill>
                            <a:schemeClr val="bg1">
                              <a:lumMod val="75000"/>
                            </a:schemeClr>
                          </a:solidFill>
                        </a:rPr>
                        <a:t>   </a:t>
                      </a:r>
                      <a:r>
                        <a:rPr lang="en-IN" dirty="0"/>
                        <a:t>:  </a:t>
                      </a:r>
                      <a:r>
                        <a:rPr lang="en-IN" sz="2800" dirty="0">
                          <a:solidFill>
                            <a:srgbClr val="FFC000"/>
                          </a:solidFill>
                          <a:latin typeface="Arial" panose="020B0604020202020204" pitchFamily="34" charset="0"/>
                          <a:cs typeface="Arial" panose="020B0604020202020204" pitchFamily="34" charset="0"/>
                        </a:rPr>
                        <a:t>AMAN SHARMA</a:t>
                      </a:r>
                    </a:p>
                  </a:txBody>
                  <a:tcPr>
                    <a:solidFill>
                      <a:srgbClr val="FD6060"/>
                    </a:solidFill>
                  </a:tcPr>
                </a:tc>
                <a:extLst>
                  <a:ext uri="{0D108BD9-81ED-4DB2-BD59-A6C34878D82A}">
                    <a16:rowId xmlns:a16="http://schemas.microsoft.com/office/drawing/2014/main" val="3391973789"/>
                  </a:ext>
                </a:extLst>
              </a:tr>
            </a:tbl>
          </a:graphicData>
        </a:graphic>
      </p:graphicFrame>
    </p:spTree>
    <p:extLst>
      <p:ext uri="{BB962C8B-B14F-4D97-AF65-F5344CB8AC3E}">
        <p14:creationId xmlns:p14="http://schemas.microsoft.com/office/powerpoint/2010/main" val="177575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2"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heel(1)">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3"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heel(1)">
                                      <p:cBhvr>
                                        <p:cTn id="22" dur="2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4"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randombar(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grpId="5"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1000" fill="hold"/>
                                        <p:tgtEl>
                                          <p:spTgt spid="16"/>
                                        </p:tgtEl>
                                        <p:attrNameLst>
                                          <p:attrName>ppt_w</p:attrName>
                                        </p:attrNameLst>
                                      </p:cBhvr>
                                      <p:tavLst>
                                        <p:tav tm="0">
                                          <p:val>
                                            <p:fltVal val="0"/>
                                          </p:val>
                                        </p:tav>
                                        <p:tav tm="100000">
                                          <p:val>
                                            <p:strVal val="#ppt_w"/>
                                          </p:val>
                                        </p:tav>
                                      </p:tavLst>
                                    </p:anim>
                                    <p:anim calcmode="lin" valueType="num">
                                      <p:cBhvr>
                                        <p:cTn id="33" dur="1000" fill="hold"/>
                                        <p:tgtEl>
                                          <p:spTgt spid="16"/>
                                        </p:tgtEl>
                                        <p:attrNameLst>
                                          <p:attrName>ppt_h</p:attrName>
                                        </p:attrNameLst>
                                      </p:cBhvr>
                                      <p:tavLst>
                                        <p:tav tm="0">
                                          <p:val>
                                            <p:fltVal val="0"/>
                                          </p:val>
                                        </p:tav>
                                        <p:tav tm="100000">
                                          <p:val>
                                            <p:strVal val="#ppt_h"/>
                                          </p:val>
                                        </p:tav>
                                      </p:tavLst>
                                    </p:anim>
                                    <p:anim calcmode="lin" valueType="num">
                                      <p:cBhvr>
                                        <p:cTn id="34" dur="1000" fill="hold"/>
                                        <p:tgtEl>
                                          <p:spTgt spid="16"/>
                                        </p:tgtEl>
                                        <p:attrNameLst>
                                          <p:attrName>style.rotation</p:attrName>
                                        </p:attrNameLst>
                                      </p:cBhvr>
                                      <p:tavLst>
                                        <p:tav tm="0">
                                          <p:val>
                                            <p:fltVal val="90"/>
                                          </p:val>
                                        </p:tav>
                                        <p:tav tm="100000">
                                          <p:val>
                                            <p:fltVal val="0"/>
                                          </p:val>
                                        </p:tav>
                                      </p:tavLst>
                                    </p:anim>
                                    <p:animEffect transition="in" filter="fade">
                                      <p:cBhvr>
                                        <p:cTn id="35" dur="10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26"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down)">
                                      <p:cBhvr>
                                        <p:cTn id="40" dur="580">
                                          <p:stCondLst>
                                            <p:cond delay="0"/>
                                          </p:stCondLst>
                                        </p:cTn>
                                        <p:tgtEl>
                                          <p:spTgt spid="15"/>
                                        </p:tgtEl>
                                      </p:cBhvr>
                                    </p:animEffect>
                                    <p:anim calcmode="lin" valueType="num">
                                      <p:cBhvr>
                                        <p:cTn id="41"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46" dur="26">
                                          <p:stCondLst>
                                            <p:cond delay="650"/>
                                          </p:stCondLst>
                                        </p:cTn>
                                        <p:tgtEl>
                                          <p:spTgt spid="15"/>
                                        </p:tgtEl>
                                      </p:cBhvr>
                                      <p:to x="100000" y="60000"/>
                                    </p:animScale>
                                    <p:animScale>
                                      <p:cBhvr>
                                        <p:cTn id="47" dur="166" decel="50000">
                                          <p:stCondLst>
                                            <p:cond delay="676"/>
                                          </p:stCondLst>
                                        </p:cTn>
                                        <p:tgtEl>
                                          <p:spTgt spid="15"/>
                                        </p:tgtEl>
                                      </p:cBhvr>
                                      <p:to x="100000" y="100000"/>
                                    </p:animScale>
                                    <p:animScale>
                                      <p:cBhvr>
                                        <p:cTn id="48" dur="26">
                                          <p:stCondLst>
                                            <p:cond delay="1312"/>
                                          </p:stCondLst>
                                        </p:cTn>
                                        <p:tgtEl>
                                          <p:spTgt spid="15"/>
                                        </p:tgtEl>
                                      </p:cBhvr>
                                      <p:to x="100000" y="80000"/>
                                    </p:animScale>
                                    <p:animScale>
                                      <p:cBhvr>
                                        <p:cTn id="49" dur="166" decel="50000">
                                          <p:stCondLst>
                                            <p:cond delay="1338"/>
                                          </p:stCondLst>
                                        </p:cTn>
                                        <p:tgtEl>
                                          <p:spTgt spid="15"/>
                                        </p:tgtEl>
                                      </p:cBhvr>
                                      <p:to x="100000" y="100000"/>
                                    </p:animScale>
                                    <p:animScale>
                                      <p:cBhvr>
                                        <p:cTn id="50" dur="26">
                                          <p:stCondLst>
                                            <p:cond delay="1642"/>
                                          </p:stCondLst>
                                        </p:cTn>
                                        <p:tgtEl>
                                          <p:spTgt spid="15"/>
                                        </p:tgtEl>
                                      </p:cBhvr>
                                      <p:to x="100000" y="90000"/>
                                    </p:animScale>
                                    <p:animScale>
                                      <p:cBhvr>
                                        <p:cTn id="51" dur="166" decel="50000">
                                          <p:stCondLst>
                                            <p:cond delay="1668"/>
                                          </p:stCondLst>
                                        </p:cTn>
                                        <p:tgtEl>
                                          <p:spTgt spid="15"/>
                                        </p:tgtEl>
                                      </p:cBhvr>
                                      <p:to x="100000" y="100000"/>
                                    </p:animScale>
                                    <p:animScale>
                                      <p:cBhvr>
                                        <p:cTn id="52" dur="26">
                                          <p:stCondLst>
                                            <p:cond delay="1808"/>
                                          </p:stCondLst>
                                        </p:cTn>
                                        <p:tgtEl>
                                          <p:spTgt spid="15"/>
                                        </p:tgtEl>
                                      </p:cBhvr>
                                      <p:to x="100000" y="95000"/>
                                    </p:animScale>
                                    <p:animScale>
                                      <p:cBhvr>
                                        <p:cTn id="53" dur="166" decel="50000">
                                          <p:stCondLst>
                                            <p:cond delay="1834"/>
                                          </p:stCondLst>
                                        </p:cTn>
                                        <p:tgtEl>
                                          <p:spTgt spid="15"/>
                                        </p:tgtEl>
                                      </p:cBhvr>
                                      <p:to x="100000" y="100000"/>
                                    </p:animScale>
                                  </p:childTnLst>
                                </p:cTn>
                              </p:par>
                            </p:childTnLst>
                          </p:cTn>
                        </p:par>
                      </p:childTnLst>
                    </p:cTn>
                  </p:par>
                  <p:par>
                    <p:cTn id="54" fill="hold">
                      <p:stCondLst>
                        <p:cond delay="indefinite"/>
                      </p:stCondLst>
                      <p:childTnLst>
                        <p:par>
                          <p:cTn id="55" fill="hold">
                            <p:stCondLst>
                              <p:cond delay="0"/>
                            </p:stCondLst>
                            <p:childTnLst>
                              <p:par>
                                <p:cTn id="56" presetID="45"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000"/>
                                        <p:tgtEl>
                                          <p:spTgt spid="15"/>
                                        </p:tgtEl>
                                      </p:cBhvr>
                                    </p:animEffect>
                                    <p:anim calcmode="lin" valueType="num">
                                      <p:cBhvr>
                                        <p:cTn id="59" dur="2000" fill="hold"/>
                                        <p:tgtEl>
                                          <p:spTgt spid="15"/>
                                        </p:tgtEl>
                                        <p:attrNameLst>
                                          <p:attrName>ppt_w</p:attrName>
                                        </p:attrNameLst>
                                      </p:cBhvr>
                                      <p:tavLst>
                                        <p:tav tm="0" fmla="#ppt_w*sin(2.5*pi*$)">
                                          <p:val>
                                            <p:fltVal val="0"/>
                                          </p:val>
                                        </p:tav>
                                        <p:tav tm="100000">
                                          <p:val>
                                            <p:fltVal val="1"/>
                                          </p:val>
                                        </p:tav>
                                      </p:tavLst>
                                    </p:anim>
                                    <p:anim calcmode="lin" valueType="num">
                                      <p:cBhvr>
                                        <p:cTn id="60"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randombar(horizontal)">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heel(1)">
                                      <p:cBhvr>
                                        <p:cTn id="77" dur="20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31" presetClass="entr" presetSubtype="0"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p:cTn id="82" dur="1000" fill="hold"/>
                                        <p:tgtEl>
                                          <p:spTgt spid="15"/>
                                        </p:tgtEl>
                                        <p:attrNameLst>
                                          <p:attrName>ppt_w</p:attrName>
                                        </p:attrNameLst>
                                      </p:cBhvr>
                                      <p:tavLst>
                                        <p:tav tm="0">
                                          <p:val>
                                            <p:fltVal val="0"/>
                                          </p:val>
                                        </p:tav>
                                        <p:tav tm="100000">
                                          <p:val>
                                            <p:strVal val="#ppt_w"/>
                                          </p:val>
                                        </p:tav>
                                      </p:tavLst>
                                    </p:anim>
                                    <p:anim calcmode="lin" valueType="num">
                                      <p:cBhvr>
                                        <p:cTn id="83" dur="1000" fill="hold"/>
                                        <p:tgtEl>
                                          <p:spTgt spid="15"/>
                                        </p:tgtEl>
                                        <p:attrNameLst>
                                          <p:attrName>ppt_h</p:attrName>
                                        </p:attrNameLst>
                                      </p:cBhvr>
                                      <p:tavLst>
                                        <p:tav tm="0">
                                          <p:val>
                                            <p:fltVal val="0"/>
                                          </p:val>
                                        </p:tav>
                                        <p:tav tm="100000">
                                          <p:val>
                                            <p:strVal val="#ppt_h"/>
                                          </p:val>
                                        </p:tav>
                                      </p:tavLst>
                                    </p:anim>
                                    <p:anim calcmode="lin" valueType="num">
                                      <p:cBhvr>
                                        <p:cTn id="84" dur="1000" fill="hold"/>
                                        <p:tgtEl>
                                          <p:spTgt spid="15"/>
                                        </p:tgtEl>
                                        <p:attrNameLst>
                                          <p:attrName>style.rotation</p:attrName>
                                        </p:attrNameLst>
                                      </p:cBhvr>
                                      <p:tavLst>
                                        <p:tav tm="0">
                                          <p:val>
                                            <p:fltVal val="90"/>
                                          </p:val>
                                        </p:tav>
                                        <p:tav tm="100000">
                                          <p:val>
                                            <p:fltVal val="0"/>
                                          </p:val>
                                        </p:tav>
                                      </p:tavLst>
                                    </p:anim>
                                    <p:animEffect transition="in" filter="fade">
                                      <p:cBhvr>
                                        <p:cTn id="85" dur="1000"/>
                                        <p:tgtEl>
                                          <p:spTgt spid="15"/>
                                        </p:tgtEl>
                                      </p:cBhvr>
                                    </p:animEffect>
                                  </p:childTnLst>
                                </p:cTn>
                              </p:par>
                            </p:childTnLst>
                          </p:cTn>
                        </p:par>
                      </p:childTnLst>
                    </p:cTn>
                  </p:par>
                  <p:par>
                    <p:cTn id="86" fill="hold">
                      <p:stCondLst>
                        <p:cond delay="indefinite"/>
                      </p:stCondLst>
                      <p:childTnLst>
                        <p:par>
                          <p:cTn id="87" fill="hold">
                            <p:stCondLst>
                              <p:cond delay="0"/>
                            </p:stCondLst>
                            <p:childTnLst>
                              <p:par>
                                <p:cTn id="88" presetID="26" presetClass="entr" presetSubtype="0" fill="hold" nodeType="clickEffect">
                                  <p:stCondLst>
                                    <p:cond delay="0"/>
                                  </p:stCondLst>
                                  <p:childTnLst>
                                    <p:set>
                                      <p:cBhvr>
                                        <p:cTn id="89" dur="1" fill="hold">
                                          <p:stCondLst>
                                            <p:cond delay="0"/>
                                          </p:stCondLst>
                                        </p:cTn>
                                        <p:tgtEl>
                                          <p:spTgt spid="15"/>
                                        </p:tgtEl>
                                        <p:attrNameLst>
                                          <p:attrName>style.visibility</p:attrName>
                                        </p:attrNameLst>
                                      </p:cBhvr>
                                      <p:to>
                                        <p:strVal val="visible"/>
                                      </p:to>
                                    </p:set>
                                    <p:animEffect transition="in" filter="wipe(down)">
                                      <p:cBhvr>
                                        <p:cTn id="90" dur="580">
                                          <p:stCondLst>
                                            <p:cond delay="0"/>
                                          </p:stCondLst>
                                        </p:cTn>
                                        <p:tgtEl>
                                          <p:spTgt spid="15"/>
                                        </p:tgtEl>
                                      </p:cBhvr>
                                    </p:animEffect>
                                    <p:anim calcmode="lin" valueType="num">
                                      <p:cBhvr>
                                        <p:cTn id="91"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2"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93"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94"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95"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96" dur="26">
                                          <p:stCondLst>
                                            <p:cond delay="650"/>
                                          </p:stCondLst>
                                        </p:cTn>
                                        <p:tgtEl>
                                          <p:spTgt spid="15"/>
                                        </p:tgtEl>
                                      </p:cBhvr>
                                      <p:to x="100000" y="60000"/>
                                    </p:animScale>
                                    <p:animScale>
                                      <p:cBhvr>
                                        <p:cTn id="97" dur="166" decel="50000">
                                          <p:stCondLst>
                                            <p:cond delay="676"/>
                                          </p:stCondLst>
                                        </p:cTn>
                                        <p:tgtEl>
                                          <p:spTgt spid="15"/>
                                        </p:tgtEl>
                                      </p:cBhvr>
                                      <p:to x="100000" y="100000"/>
                                    </p:animScale>
                                    <p:animScale>
                                      <p:cBhvr>
                                        <p:cTn id="98" dur="26">
                                          <p:stCondLst>
                                            <p:cond delay="1312"/>
                                          </p:stCondLst>
                                        </p:cTn>
                                        <p:tgtEl>
                                          <p:spTgt spid="15"/>
                                        </p:tgtEl>
                                      </p:cBhvr>
                                      <p:to x="100000" y="80000"/>
                                    </p:animScale>
                                    <p:animScale>
                                      <p:cBhvr>
                                        <p:cTn id="99" dur="166" decel="50000">
                                          <p:stCondLst>
                                            <p:cond delay="1338"/>
                                          </p:stCondLst>
                                        </p:cTn>
                                        <p:tgtEl>
                                          <p:spTgt spid="15"/>
                                        </p:tgtEl>
                                      </p:cBhvr>
                                      <p:to x="100000" y="100000"/>
                                    </p:animScale>
                                    <p:animScale>
                                      <p:cBhvr>
                                        <p:cTn id="100" dur="26">
                                          <p:stCondLst>
                                            <p:cond delay="1642"/>
                                          </p:stCondLst>
                                        </p:cTn>
                                        <p:tgtEl>
                                          <p:spTgt spid="15"/>
                                        </p:tgtEl>
                                      </p:cBhvr>
                                      <p:to x="100000" y="90000"/>
                                    </p:animScale>
                                    <p:animScale>
                                      <p:cBhvr>
                                        <p:cTn id="101" dur="166" decel="50000">
                                          <p:stCondLst>
                                            <p:cond delay="1668"/>
                                          </p:stCondLst>
                                        </p:cTn>
                                        <p:tgtEl>
                                          <p:spTgt spid="15"/>
                                        </p:tgtEl>
                                      </p:cBhvr>
                                      <p:to x="100000" y="100000"/>
                                    </p:animScale>
                                    <p:animScale>
                                      <p:cBhvr>
                                        <p:cTn id="102" dur="26">
                                          <p:stCondLst>
                                            <p:cond delay="1808"/>
                                          </p:stCondLst>
                                        </p:cTn>
                                        <p:tgtEl>
                                          <p:spTgt spid="15"/>
                                        </p:tgtEl>
                                      </p:cBhvr>
                                      <p:to x="100000" y="95000"/>
                                    </p:animScale>
                                    <p:animScale>
                                      <p:cBhvr>
                                        <p:cTn id="103" dur="166" decel="50000">
                                          <p:stCondLst>
                                            <p:cond delay="1834"/>
                                          </p:stCondLst>
                                        </p:cTn>
                                        <p:tgtEl>
                                          <p:spTgt spid="15"/>
                                        </p:tgtEl>
                                      </p:cBhvr>
                                      <p:to x="100000" y="100000"/>
                                    </p:animScale>
                                  </p:childTnLst>
                                </p:cTn>
                              </p:par>
                            </p:childTnLst>
                          </p:cTn>
                        </p:par>
                      </p:childTnLst>
                    </p:cTn>
                  </p:par>
                  <p:par>
                    <p:cTn id="104" fill="hold">
                      <p:stCondLst>
                        <p:cond delay="indefinite"/>
                      </p:stCondLst>
                      <p:childTnLst>
                        <p:par>
                          <p:cTn id="105" fill="hold">
                            <p:stCondLst>
                              <p:cond delay="0"/>
                            </p:stCondLst>
                            <p:childTnLst>
                              <p:par>
                                <p:cTn id="106" presetID="24" presetClass="emph" presetSubtype="0" fill="hold" nodeType="clickEffect">
                                  <p:stCondLst>
                                    <p:cond delay="0"/>
                                  </p:stCondLst>
                                  <p:childTnLst>
                                    <p:animClr clrSpc="hsl" dir="cw">
                                      <p:cBhvr override="childStyle">
                                        <p:cTn id="107" dur="500" fill="hold"/>
                                        <p:tgtEl>
                                          <p:spTgt spid="15"/>
                                        </p:tgtEl>
                                        <p:attrNameLst>
                                          <p:attrName>style.color</p:attrName>
                                        </p:attrNameLst>
                                      </p:cBhvr>
                                      <p:by>
                                        <p:hsl h="0" s="-12549" l="-25098"/>
                                      </p:by>
                                    </p:animClr>
                                    <p:animClr clrSpc="hsl" dir="cw">
                                      <p:cBhvr>
                                        <p:cTn id="108" dur="500" fill="hold"/>
                                        <p:tgtEl>
                                          <p:spTgt spid="15"/>
                                        </p:tgtEl>
                                        <p:attrNameLst>
                                          <p:attrName>fillcolor</p:attrName>
                                        </p:attrNameLst>
                                      </p:cBhvr>
                                      <p:by>
                                        <p:hsl h="0" s="-12549" l="-25098"/>
                                      </p:by>
                                    </p:animClr>
                                    <p:animClr clrSpc="hsl" dir="cw">
                                      <p:cBhvr>
                                        <p:cTn id="109" dur="500" fill="hold"/>
                                        <p:tgtEl>
                                          <p:spTgt spid="15"/>
                                        </p:tgtEl>
                                        <p:attrNameLst>
                                          <p:attrName>stroke.color</p:attrName>
                                        </p:attrNameLst>
                                      </p:cBhvr>
                                      <p:by>
                                        <p:hsl h="0" s="-12549" l="-25098"/>
                                      </p:by>
                                    </p:animClr>
                                    <p:set>
                                      <p:cBhvr>
                                        <p:cTn id="110" dur="500" fill="hold"/>
                                        <p:tgtEl>
                                          <p:spTgt spid="15"/>
                                        </p:tgtEl>
                                        <p:attrNameLst>
                                          <p:attrName>fill.type</p:attrName>
                                        </p:attrNameLst>
                                      </p:cBhvr>
                                      <p:to>
                                        <p:strVal val="solid"/>
                                      </p:to>
                                    </p:set>
                                  </p:childTnLst>
                                </p:cTn>
                              </p:par>
                            </p:childTnLst>
                          </p:cTn>
                        </p:par>
                      </p:childTnLst>
                    </p:cTn>
                  </p:par>
                  <p:par>
                    <p:cTn id="111" fill="hold">
                      <p:stCondLst>
                        <p:cond delay="indefinite"/>
                      </p:stCondLst>
                      <p:childTnLst>
                        <p:par>
                          <p:cTn id="112" fill="hold">
                            <p:stCondLst>
                              <p:cond delay="0"/>
                            </p:stCondLst>
                            <p:childTnLst>
                              <p:par>
                                <p:cTn id="113" presetID="6" presetClass="emph" presetSubtype="0" fill="hold" nodeType="clickEffect">
                                  <p:stCondLst>
                                    <p:cond delay="0"/>
                                  </p:stCondLst>
                                  <p:childTnLst>
                                    <p:animScale>
                                      <p:cBhvr>
                                        <p:cTn id="114" dur="2000" fill="hold"/>
                                        <p:tgtEl>
                                          <p:spTgt spid="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animBg="1"/>
      <p:bldP spid="16" grpId="3" animBg="1"/>
      <p:bldP spid="16" grpId="4" animBg="1"/>
      <p:bldP spid="16" grpId="5"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976008-895D-5749-93E6-08FE92108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55020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378F97A-DB13-EF8E-2147-4D81FDD0E114}"/>
              </a:ext>
            </a:extLst>
          </p:cNvPr>
          <p:cNvGraphicFramePr>
            <a:graphicFrameLocks noGrp="1"/>
          </p:cNvGraphicFramePr>
          <p:nvPr>
            <p:extLst>
              <p:ext uri="{D42A27DB-BD31-4B8C-83A1-F6EECF244321}">
                <p14:modId xmlns:p14="http://schemas.microsoft.com/office/powerpoint/2010/main" val="1688902754"/>
              </p:ext>
            </p:extLst>
          </p:nvPr>
        </p:nvGraphicFramePr>
        <p:xfrm>
          <a:off x="-84083" y="0"/>
          <a:ext cx="12276083" cy="6858000"/>
        </p:xfrm>
        <a:graphic>
          <a:graphicData uri="http://schemas.openxmlformats.org/drawingml/2006/table">
            <a:tbl>
              <a:tblPr firstRow="1" bandRow="1">
                <a:tableStyleId>{5C22544A-7EE6-4342-B048-85BDC9FD1C3A}</a:tableStyleId>
              </a:tblPr>
              <a:tblGrid>
                <a:gridCol w="12276083">
                  <a:extLst>
                    <a:ext uri="{9D8B030D-6E8A-4147-A177-3AD203B41FA5}">
                      <a16:colId xmlns:a16="http://schemas.microsoft.com/office/drawing/2014/main" val="4164937563"/>
                    </a:ext>
                  </a:extLst>
                </a:gridCol>
              </a:tblGrid>
              <a:tr h="6858000">
                <a:tc>
                  <a:txBody>
                    <a:bodyPr/>
                    <a:lstStyle/>
                    <a:p>
                      <a:r>
                        <a:rPr lang="en-US" dirty="0"/>
                        <a:t>VFVFFDD</a:t>
                      </a:r>
                      <a:endParaRPr lang="en-IN" dirty="0"/>
                    </a:p>
                  </a:txBody>
                  <a:tc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386962429"/>
                  </a:ext>
                </a:extLst>
              </a:tr>
            </a:tbl>
          </a:graphicData>
        </a:graphic>
      </p:graphicFrame>
      <p:graphicFrame>
        <p:nvGraphicFramePr>
          <p:cNvPr id="13" name="Table 12">
            <a:extLst>
              <a:ext uri="{FF2B5EF4-FFF2-40B4-BE49-F238E27FC236}">
                <a16:creationId xmlns:a16="http://schemas.microsoft.com/office/drawing/2014/main" id="{D3AB1131-1F3F-3B9D-417B-E1C1BE2B4D0C}"/>
              </a:ext>
            </a:extLst>
          </p:cNvPr>
          <p:cNvGraphicFramePr>
            <a:graphicFrameLocks noGrp="1"/>
          </p:cNvGraphicFramePr>
          <p:nvPr>
            <p:extLst>
              <p:ext uri="{D42A27DB-BD31-4B8C-83A1-F6EECF244321}">
                <p14:modId xmlns:p14="http://schemas.microsoft.com/office/powerpoint/2010/main" val="3545382599"/>
              </p:ext>
            </p:extLst>
          </p:nvPr>
        </p:nvGraphicFramePr>
        <p:xfrm>
          <a:off x="-84085" y="-1"/>
          <a:ext cx="12276085" cy="1737360"/>
        </p:xfrm>
        <a:graphic>
          <a:graphicData uri="http://schemas.openxmlformats.org/drawingml/2006/table">
            <a:tbl>
              <a:tblPr firstRow="1" bandRow="1">
                <a:tableStyleId>{5C22544A-7EE6-4342-B048-85BDC9FD1C3A}</a:tableStyleId>
              </a:tblPr>
              <a:tblGrid>
                <a:gridCol w="12276085">
                  <a:extLst>
                    <a:ext uri="{9D8B030D-6E8A-4147-A177-3AD203B41FA5}">
                      <a16:colId xmlns:a16="http://schemas.microsoft.com/office/drawing/2014/main" val="3657659808"/>
                    </a:ext>
                  </a:extLst>
                </a:gridCol>
              </a:tblGrid>
              <a:tr h="1737359">
                <a:tc>
                  <a:txBody>
                    <a:bodyPr/>
                    <a:lstStyle/>
                    <a:p>
                      <a:pPr algn="ctr"/>
                      <a:r>
                        <a:rPr lang="en-US" sz="3600" dirty="0"/>
                        <a:t>       </a:t>
                      </a:r>
                      <a:r>
                        <a:rPr lang="en-US" sz="3600" u="sng" dirty="0">
                          <a:solidFill>
                            <a:srgbClr val="FF0000"/>
                          </a:solidFill>
                        </a:rPr>
                        <a:t>Data Harmonization </a:t>
                      </a:r>
                    </a:p>
                    <a:p>
                      <a:pPr algn="ctr"/>
                      <a:r>
                        <a:rPr lang="en-US" sz="3600" u="sng" dirty="0">
                          <a:solidFill>
                            <a:srgbClr val="FF0000"/>
                          </a:solidFill>
                        </a:rPr>
                        <a:t>and </a:t>
                      </a:r>
                    </a:p>
                    <a:p>
                      <a:pPr algn="ctr"/>
                      <a:r>
                        <a:rPr lang="en-US" sz="3600" dirty="0">
                          <a:solidFill>
                            <a:srgbClr val="FF0000"/>
                          </a:solidFill>
                        </a:rPr>
                        <a:t>  </a:t>
                      </a:r>
                      <a:r>
                        <a:rPr lang="en-US" sz="3600" u="sng" dirty="0">
                          <a:solidFill>
                            <a:srgbClr val="FF0000"/>
                          </a:solidFill>
                        </a:rPr>
                        <a:t>Visualization</a:t>
                      </a:r>
                    </a:p>
                  </a:txBody>
                  <a:tcPr>
                    <a:solidFill>
                      <a:schemeClr val="bg2">
                        <a:lumMod val="75000"/>
                      </a:schemeClr>
                    </a:solidFill>
                  </a:tcPr>
                </a:tc>
                <a:extLst>
                  <a:ext uri="{0D108BD9-81ED-4DB2-BD59-A6C34878D82A}">
                    <a16:rowId xmlns:a16="http://schemas.microsoft.com/office/drawing/2014/main" val="2192839729"/>
                  </a:ext>
                </a:extLst>
              </a:tr>
            </a:tbl>
          </a:graphicData>
        </a:graphic>
      </p:graphicFrame>
      <p:graphicFrame>
        <p:nvGraphicFramePr>
          <p:cNvPr id="2" name="Table 1">
            <a:extLst>
              <a:ext uri="{FF2B5EF4-FFF2-40B4-BE49-F238E27FC236}">
                <a16:creationId xmlns:a16="http://schemas.microsoft.com/office/drawing/2014/main" id="{E6E328F9-EF90-82F1-C5E7-AA940A232C85}"/>
              </a:ext>
            </a:extLst>
          </p:cNvPr>
          <p:cNvGraphicFramePr>
            <a:graphicFrameLocks noGrp="1"/>
          </p:cNvGraphicFramePr>
          <p:nvPr>
            <p:extLst>
              <p:ext uri="{D42A27DB-BD31-4B8C-83A1-F6EECF244321}">
                <p14:modId xmlns:p14="http://schemas.microsoft.com/office/powerpoint/2010/main" val="4274951142"/>
              </p:ext>
            </p:extLst>
          </p:nvPr>
        </p:nvGraphicFramePr>
        <p:xfrm>
          <a:off x="5192109" y="1737359"/>
          <a:ext cx="6999891" cy="2351165"/>
        </p:xfrm>
        <a:graphic>
          <a:graphicData uri="http://schemas.openxmlformats.org/drawingml/2006/table">
            <a:tbl>
              <a:tblPr firstRow="1" bandRow="1">
                <a:tableStyleId>{5C22544A-7EE6-4342-B048-85BDC9FD1C3A}</a:tableStyleId>
              </a:tblPr>
              <a:tblGrid>
                <a:gridCol w="6999891">
                  <a:extLst>
                    <a:ext uri="{9D8B030D-6E8A-4147-A177-3AD203B41FA5}">
                      <a16:colId xmlns:a16="http://schemas.microsoft.com/office/drawing/2014/main" val="1716895868"/>
                    </a:ext>
                  </a:extLst>
                </a:gridCol>
              </a:tblGrid>
              <a:tr h="2351165">
                <a:tc>
                  <a:txBody>
                    <a:bodyPr/>
                    <a:lstStyle/>
                    <a:p>
                      <a:r>
                        <a:rPr lang="en-US" sz="2800" b="0" i="0" kern="1200" dirty="0">
                          <a:solidFill>
                            <a:schemeClr val="accent1">
                              <a:lumMod val="50000"/>
                            </a:schemeClr>
                          </a:solidFill>
                          <a:effectLst/>
                          <a:latin typeface="+mn-lt"/>
                          <a:ea typeface="+mn-ea"/>
                          <a:cs typeface="+mn-cs"/>
                        </a:rPr>
                        <a:t>Data harmonization combines and standardizes data from various sources. It arranges elements, definitions, and formats for consistency across datasets. This method makes analysis and </a:t>
                      </a:r>
                      <a:r>
                        <a:rPr lang="en-US" sz="2800" b="0" i="0" u="none" strike="noStrike" kern="1200" dirty="0">
                          <a:solidFill>
                            <a:schemeClr val="accent1">
                              <a:lumMod val="50000"/>
                            </a:schemeClr>
                          </a:solidFill>
                          <a:effectLst/>
                          <a:latin typeface="+mn-lt"/>
                          <a:ea typeface="+mn-ea"/>
                          <a:cs typeface="+mn-cs"/>
                          <a:hlinkClick r:id="rId2" tooltip="insight generation">
                            <a:extLst>
                              <a:ext uri="{A12FA001-AC4F-418D-AE19-62706E023703}">
                                <ahyp:hlinkClr xmlns:ahyp="http://schemas.microsoft.com/office/drawing/2018/hyperlinkcolor" val="tx"/>
                              </a:ext>
                            </a:extLst>
                          </a:hlinkClick>
                        </a:rPr>
                        <a:t>insight generation</a:t>
                      </a:r>
                      <a:r>
                        <a:rPr lang="en-US" sz="2800" b="0" i="0" kern="1200" dirty="0">
                          <a:solidFill>
                            <a:schemeClr val="accent1">
                              <a:lumMod val="50000"/>
                            </a:schemeClr>
                          </a:solidFill>
                          <a:effectLst/>
                          <a:latin typeface="+mn-lt"/>
                          <a:ea typeface="+mn-ea"/>
                          <a:cs typeface="+mn-cs"/>
                        </a:rPr>
                        <a:t> more efficient.</a:t>
                      </a:r>
                      <a:endParaRPr lang="en-IN" sz="2800" dirty="0">
                        <a:solidFill>
                          <a:schemeClr val="accent1">
                            <a:lumMod val="50000"/>
                          </a:schemeClr>
                        </a:solidFill>
                      </a:endParaRPr>
                    </a:p>
                  </a:txBody>
                  <a:tcPr>
                    <a:solidFill>
                      <a:schemeClr val="accent1">
                        <a:lumMod val="40000"/>
                        <a:lumOff val="60000"/>
                      </a:schemeClr>
                    </a:solidFill>
                  </a:tcPr>
                </a:tc>
                <a:extLst>
                  <a:ext uri="{0D108BD9-81ED-4DB2-BD59-A6C34878D82A}">
                    <a16:rowId xmlns:a16="http://schemas.microsoft.com/office/drawing/2014/main" val="928518616"/>
                  </a:ext>
                </a:extLst>
              </a:tr>
            </a:tbl>
          </a:graphicData>
        </a:graphic>
      </p:graphicFrame>
      <p:graphicFrame>
        <p:nvGraphicFramePr>
          <p:cNvPr id="3" name="Table 2">
            <a:extLst>
              <a:ext uri="{FF2B5EF4-FFF2-40B4-BE49-F238E27FC236}">
                <a16:creationId xmlns:a16="http://schemas.microsoft.com/office/drawing/2014/main" id="{85820848-DA15-DBF7-FFB5-455CC8AD7A94}"/>
              </a:ext>
            </a:extLst>
          </p:cNvPr>
          <p:cNvGraphicFramePr>
            <a:graphicFrameLocks noGrp="1"/>
          </p:cNvGraphicFramePr>
          <p:nvPr>
            <p:extLst>
              <p:ext uri="{D42A27DB-BD31-4B8C-83A1-F6EECF244321}">
                <p14:modId xmlns:p14="http://schemas.microsoft.com/office/powerpoint/2010/main" val="3126437915"/>
              </p:ext>
            </p:extLst>
          </p:nvPr>
        </p:nvGraphicFramePr>
        <p:xfrm>
          <a:off x="5192109" y="4088524"/>
          <a:ext cx="6999891" cy="2769475"/>
        </p:xfrm>
        <a:graphic>
          <a:graphicData uri="http://schemas.openxmlformats.org/drawingml/2006/table">
            <a:tbl>
              <a:tblPr firstRow="1" bandRow="1">
                <a:tableStyleId>{5C22544A-7EE6-4342-B048-85BDC9FD1C3A}</a:tableStyleId>
              </a:tblPr>
              <a:tblGrid>
                <a:gridCol w="6999891">
                  <a:extLst>
                    <a:ext uri="{9D8B030D-6E8A-4147-A177-3AD203B41FA5}">
                      <a16:colId xmlns:a16="http://schemas.microsoft.com/office/drawing/2014/main" val="2124463931"/>
                    </a:ext>
                  </a:extLst>
                </a:gridCol>
              </a:tblGrid>
              <a:tr h="2769475">
                <a:tc>
                  <a:txBody>
                    <a:bodyPr/>
                    <a:lstStyle/>
                    <a:p>
                      <a:r>
                        <a:rPr lang="en-US" sz="2800" b="0" i="0" kern="1200" dirty="0">
                          <a:solidFill>
                            <a:schemeClr val="lt1"/>
                          </a:solidFill>
                          <a:effectLst/>
                          <a:latin typeface="+mn-lt"/>
                          <a:ea typeface="+mn-ea"/>
                          <a:cs typeface="+mn-cs"/>
                        </a:rPr>
                        <a:t>Data visualization is the graphical representation of information and data. By using visual elements like charts, graphs, and maps, data visualization tools provide an accessible way to see and understand trends, outliers, and patterns in data.</a:t>
                      </a:r>
                      <a:endParaRPr lang="en-IN" sz="2800" dirty="0"/>
                    </a:p>
                  </a:txBody>
                  <a:tcPr>
                    <a:solidFill>
                      <a:srgbClr val="083040"/>
                    </a:solidFill>
                  </a:tcPr>
                </a:tc>
                <a:extLst>
                  <a:ext uri="{0D108BD9-81ED-4DB2-BD59-A6C34878D82A}">
                    <a16:rowId xmlns:a16="http://schemas.microsoft.com/office/drawing/2014/main" val="614297170"/>
                  </a:ext>
                </a:extLst>
              </a:tr>
            </a:tbl>
          </a:graphicData>
        </a:graphic>
      </p:graphicFrame>
      <p:pic>
        <p:nvPicPr>
          <p:cNvPr id="5" name="Picture 4">
            <a:extLst>
              <a:ext uri="{FF2B5EF4-FFF2-40B4-BE49-F238E27FC236}">
                <a16:creationId xmlns:a16="http://schemas.microsoft.com/office/drawing/2014/main" id="{F9842E77-421A-852C-AA05-693F2C376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84" y="1737359"/>
            <a:ext cx="5276194" cy="5120640"/>
          </a:xfrm>
          <a:prstGeom prst="rect">
            <a:avLst/>
          </a:prstGeom>
        </p:spPr>
      </p:pic>
    </p:spTree>
    <p:extLst>
      <p:ext uri="{BB962C8B-B14F-4D97-AF65-F5344CB8AC3E}">
        <p14:creationId xmlns:p14="http://schemas.microsoft.com/office/powerpoint/2010/main" val="3520686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B660FD9-DA10-1915-D304-E40F56743585}"/>
              </a:ext>
            </a:extLst>
          </p:cNvPr>
          <p:cNvGraphicFramePr>
            <a:graphicFrameLocks noGrp="1"/>
          </p:cNvGraphicFramePr>
          <p:nvPr>
            <p:extLst>
              <p:ext uri="{D42A27DB-BD31-4B8C-83A1-F6EECF244321}">
                <p14:modId xmlns:p14="http://schemas.microsoft.com/office/powerpoint/2010/main" val="3968254645"/>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410643693"/>
                    </a:ext>
                  </a:extLst>
                </a:gridCol>
              </a:tblGrid>
              <a:tr h="6858000">
                <a:tc>
                  <a:txBody>
                    <a:bodyPr/>
                    <a:lstStyle/>
                    <a:p>
                      <a:pPr algn="ctr"/>
                      <a:r>
                        <a:rPr lang="en-US" dirty="0"/>
                        <a:t>                           </a:t>
                      </a:r>
                    </a:p>
                    <a:p>
                      <a:pPr algn="ctr"/>
                      <a:endParaRPr lang="en-US" sz="4000" b="0" u="sng" dirty="0">
                        <a:latin typeface="Aptos Display" panose="020B0004020202020204" pitchFamily="34" charset="0"/>
                      </a:endParaRPr>
                    </a:p>
                    <a:p>
                      <a:pPr algn="ctr"/>
                      <a:r>
                        <a:rPr lang="en-US" sz="4000" b="1" u="sng" dirty="0">
                          <a:solidFill>
                            <a:srgbClr val="FF0000"/>
                          </a:solidFill>
                          <a:latin typeface="Aptos Display" panose="020B0004020202020204" pitchFamily="34" charset="0"/>
                        </a:rPr>
                        <a:t>PROJECT OVERVIEW</a:t>
                      </a:r>
                    </a:p>
                    <a:p>
                      <a:pPr algn="ctr"/>
                      <a:endParaRPr lang="en-US" sz="4000" b="0" i="0" u="none" dirty="0">
                        <a:solidFill>
                          <a:schemeClr val="bg2">
                            <a:lumMod val="25000"/>
                          </a:schemeClr>
                        </a:solidFill>
                        <a:latin typeface="Aptos Display" panose="020B0004020202020204" pitchFamily="34" charset="0"/>
                      </a:endParaRPr>
                    </a:p>
                    <a:p>
                      <a:pPr algn="l"/>
                      <a:endParaRPr lang="en-US" sz="4000" b="0" i="0" u="none" dirty="0">
                        <a:solidFill>
                          <a:srgbClr val="002060"/>
                        </a:solidFill>
                        <a:latin typeface="Aptos Display" panose="020B0004020202020204" pitchFamily="34" charset="0"/>
                      </a:endParaRPr>
                    </a:p>
                    <a:p>
                      <a:pPr algn="l"/>
                      <a:r>
                        <a:rPr lang="en-US" sz="2800" b="0" i="0" u="none" dirty="0">
                          <a:solidFill>
                            <a:srgbClr val="002060"/>
                          </a:solidFill>
                          <a:latin typeface="Aptos Display" panose="020B0004020202020204" pitchFamily="34" charset="0"/>
                        </a:rPr>
                        <a:t>                </a:t>
                      </a:r>
                      <a:r>
                        <a:rPr lang="en-US" sz="2800" b="1" i="0" u="sng" dirty="0">
                          <a:solidFill>
                            <a:schemeClr val="bg1"/>
                          </a:solidFill>
                          <a:highlight>
                            <a:srgbClr val="000080"/>
                          </a:highlight>
                          <a:latin typeface="Aptos Display" panose="020B0004020202020204" pitchFamily="34" charset="0"/>
                        </a:rPr>
                        <a:t>Analysis Statemen</a:t>
                      </a:r>
                      <a:r>
                        <a:rPr lang="en-US" sz="2800" b="0" i="0" u="none" dirty="0">
                          <a:solidFill>
                            <a:schemeClr val="bg1"/>
                          </a:solidFill>
                          <a:highlight>
                            <a:srgbClr val="000080"/>
                          </a:highlight>
                          <a:latin typeface="Aptos Display" panose="020B0004020202020204" pitchFamily="34" charset="0"/>
                        </a:rPr>
                        <a:t>t</a:t>
                      </a:r>
                      <a:r>
                        <a:rPr lang="en-US" sz="2800" b="0" i="0" u="none" dirty="0">
                          <a:solidFill>
                            <a:schemeClr val="bg2"/>
                          </a:solidFill>
                          <a:latin typeface="Aptos Display" panose="020B0004020202020204" pitchFamily="34" charset="0"/>
                        </a:rPr>
                        <a:t>                                                </a:t>
                      </a:r>
                      <a:r>
                        <a:rPr lang="en-US" sz="2800" b="1" i="0" u="sng" dirty="0">
                          <a:solidFill>
                            <a:schemeClr val="bg1"/>
                          </a:solidFill>
                          <a:highlight>
                            <a:srgbClr val="000080"/>
                          </a:highlight>
                          <a:latin typeface="Aptos Display" panose="020B0004020202020204" pitchFamily="34" charset="0"/>
                        </a:rPr>
                        <a:t>Solving  Statement</a:t>
                      </a:r>
                      <a:r>
                        <a:rPr lang="en-US" sz="2800" b="0" i="0" u="none" dirty="0">
                          <a:solidFill>
                            <a:schemeClr val="bg1"/>
                          </a:solidFill>
                          <a:highlight>
                            <a:srgbClr val="000080"/>
                          </a:highlight>
                          <a:latin typeface="Aptos Display" panose="020B0004020202020204" pitchFamily="34" charset="0"/>
                        </a:rPr>
                        <a:t>               </a:t>
                      </a:r>
                    </a:p>
                  </a:txBody>
                  <a:tcPr>
                    <a:solidFill>
                      <a:schemeClr val="accent4"/>
                    </a:solidFill>
                  </a:tcPr>
                </a:tc>
                <a:extLst>
                  <a:ext uri="{0D108BD9-81ED-4DB2-BD59-A6C34878D82A}">
                    <a16:rowId xmlns:a16="http://schemas.microsoft.com/office/drawing/2014/main" val="4140566773"/>
                  </a:ext>
                </a:extLst>
              </a:tr>
            </a:tbl>
          </a:graphicData>
        </a:graphic>
      </p:graphicFrame>
      <p:graphicFrame>
        <p:nvGraphicFramePr>
          <p:cNvPr id="5" name="Table 4">
            <a:extLst>
              <a:ext uri="{FF2B5EF4-FFF2-40B4-BE49-F238E27FC236}">
                <a16:creationId xmlns:a16="http://schemas.microsoft.com/office/drawing/2014/main" id="{F7909D5D-DE3C-6684-9C57-347C01F7B20B}"/>
              </a:ext>
            </a:extLst>
          </p:cNvPr>
          <p:cNvGraphicFramePr>
            <a:graphicFrameLocks noGrp="1"/>
          </p:cNvGraphicFramePr>
          <p:nvPr>
            <p:extLst>
              <p:ext uri="{D42A27DB-BD31-4B8C-83A1-F6EECF244321}">
                <p14:modId xmlns:p14="http://schemas.microsoft.com/office/powerpoint/2010/main" val="1216020529"/>
              </p:ext>
            </p:extLst>
          </p:nvPr>
        </p:nvGraphicFramePr>
        <p:xfrm>
          <a:off x="0" y="3535680"/>
          <a:ext cx="6014720" cy="3322320"/>
        </p:xfrm>
        <a:graphic>
          <a:graphicData uri="http://schemas.openxmlformats.org/drawingml/2006/table">
            <a:tbl>
              <a:tblPr firstRow="1" bandRow="1">
                <a:tableStyleId>{5C22544A-7EE6-4342-B048-85BDC9FD1C3A}</a:tableStyleId>
              </a:tblPr>
              <a:tblGrid>
                <a:gridCol w="6014720">
                  <a:extLst>
                    <a:ext uri="{9D8B030D-6E8A-4147-A177-3AD203B41FA5}">
                      <a16:colId xmlns:a16="http://schemas.microsoft.com/office/drawing/2014/main" val="586335802"/>
                    </a:ext>
                  </a:extLst>
                </a:gridCol>
              </a:tblGrid>
              <a:tr h="3322320">
                <a:tc>
                  <a:txBody>
                    <a:bodyPr/>
                    <a:lstStyle/>
                    <a:p>
                      <a:r>
                        <a:rPr lang="en-US" sz="2400" b="1" i="0" u="none" dirty="0">
                          <a:solidFill>
                            <a:schemeClr val="tx1">
                              <a:lumMod val="95000"/>
                              <a:lumOff val="5000"/>
                            </a:schemeClr>
                          </a:solidFill>
                          <a:latin typeface="Aptos Display" panose="020B0004020202020204" pitchFamily="34" charset="0"/>
                        </a:rPr>
                        <a:t>W</a:t>
                      </a:r>
                      <a:r>
                        <a:rPr lang="en-US" sz="2400" b="1" i="0" u="none" dirty="0">
                          <a:solidFill>
                            <a:srgbClr val="141719"/>
                          </a:solidFill>
                          <a:latin typeface="Aptos Display" panose="020B0004020202020204" pitchFamily="34" charset="0"/>
                        </a:rPr>
                        <a:t>e have a given task of multiple dataset</a:t>
                      </a:r>
                      <a:r>
                        <a:rPr lang="en-US" sz="2400" b="1" i="0" u="none" strike="noStrike" kern="1200" baseline="0" dirty="0">
                          <a:solidFill>
                            <a:srgbClr val="141719"/>
                          </a:solidFill>
                          <a:latin typeface="Aptos Display" panose="020B0004020202020204" pitchFamily="34" charset="0"/>
                          <a:ea typeface="+mn-ea"/>
                          <a:cs typeface="+mn-cs"/>
                        </a:rPr>
                        <a:t>. As a role of junior data scientist. Therefore, such that  we read all the data analysis and  searching . and but I analysis this data after that I have found  any  rentals of  riding  data. But it  could be  daily records of details as well as date, season, holiday, temp. and weather situation and so on.</a:t>
                      </a:r>
                      <a:endParaRPr lang="en-IN" sz="2400" b="1" i="0" dirty="0">
                        <a:solidFill>
                          <a:srgbClr val="141719"/>
                        </a:solidFill>
                      </a:endParaRPr>
                    </a:p>
                  </a:txBody>
                  <a:tcPr>
                    <a:solidFill>
                      <a:schemeClr val="bg2"/>
                    </a:solidFill>
                  </a:tcPr>
                </a:tc>
                <a:extLst>
                  <a:ext uri="{0D108BD9-81ED-4DB2-BD59-A6C34878D82A}">
                    <a16:rowId xmlns:a16="http://schemas.microsoft.com/office/drawing/2014/main" val="1989674408"/>
                  </a:ext>
                </a:extLst>
              </a:tr>
            </a:tbl>
          </a:graphicData>
        </a:graphic>
      </p:graphicFrame>
      <p:graphicFrame>
        <p:nvGraphicFramePr>
          <p:cNvPr id="6" name="Table 5">
            <a:extLst>
              <a:ext uri="{FF2B5EF4-FFF2-40B4-BE49-F238E27FC236}">
                <a16:creationId xmlns:a16="http://schemas.microsoft.com/office/drawing/2014/main" id="{8CB96594-64CF-8E1A-9EF2-379E66B2A30A}"/>
              </a:ext>
            </a:extLst>
          </p:cNvPr>
          <p:cNvGraphicFramePr>
            <a:graphicFrameLocks noGrp="1"/>
          </p:cNvGraphicFramePr>
          <p:nvPr>
            <p:extLst>
              <p:ext uri="{D42A27DB-BD31-4B8C-83A1-F6EECF244321}">
                <p14:modId xmlns:p14="http://schemas.microsoft.com/office/powerpoint/2010/main" val="2496073538"/>
              </p:ext>
            </p:extLst>
          </p:nvPr>
        </p:nvGraphicFramePr>
        <p:xfrm>
          <a:off x="6474372" y="3535680"/>
          <a:ext cx="5717628" cy="3322320"/>
        </p:xfrm>
        <a:graphic>
          <a:graphicData uri="http://schemas.openxmlformats.org/drawingml/2006/table">
            <a:tbl>
              <a:tblPr firstRow="1" bandRow="1">
                <a:tableStyleId>{5C22544A-7EE6-4342-B048-85BDC9FD1C3A}</a:tableStyleId>
              </a:tblPr>
              <a:tblGrid>
                <a:gridCol w="5717628">
                  <a:extLst>
                    <a:ext uri="{9D8B030D-6E8A-4147-A177-3AD203B41FA5}">
                      <a16:colId xmlns:a16="http://schemas.microsoft.com/office/drawing/2014/main" val="3334862891"/>
                    </a:ext>
                  </a:extLst>
                </a:gridCol>
              </a:tblGrid>
              <a:tr h="3322320">
                <a:tc>
                  <a:txBody>
                    <a:bodyPr/>
                    <a:lstStyle/>
                    <a:p>
                      <a:r>
                        <a:rPr lang="en-US" sz="2400" b="1" i="0" u="none" dirty="0">
                          <a:solidFill>
                            <a:schemeClr val="tx1"/>
                          </a:solidFill>
                          <a:latin typeface="Aptos Display" panose="020B0004020202020204" pitchFamily="34" charset="0"/>
                        </a:rPr>
                        <a:t>After Analysis all the data then I facing some problem that  how to solving the data . So, all the data cleaning with the help all python library . Resolving and cleaning all the analysis report  with observation  and insights  a comprehensive  Jupiter notebook with  coding visualizations  of  the data and merged them . </a:t>
                      </a:r>
                      <a:endParaRPr lang="en-IN" sz="2400" b="1" dirty="0">
                        <a:solidFill>
                          <a:schemeClr val="tx1"/>
                        </a:solidFill>
                      </a:endParaRPr>
                    </a:p>
                  </a:txBody>
                  <a:tcPr>
                    <a:solidFill>
                      <a:schemeClr val="bg2"/>
                    </a:solidFill>
                  </a:tcPr>
                </a:tc>
                <a:extLst>
                  <a:ext uri="{0D108BD9-81ED-4DB2-BD59-A6C34878D82A}">
                    <a16:rowId xmlns:a16="http://schemas.microsoft.com/office/drawing/2014/main" val="2527226394"/>
                  </a:ext>
                </a:extLst>
              </a:tr>
            </a:tbl>
          </a:graphicData>
        </a:graphic>
      </p:graphicFrame>
    </p:spTree>
    <p:extLst>
      <p:ext uri="{BB962C8B-B14F-4D97-AF65-F5344CB8AC3E}">
        <p14:creationId xmlns:p14="http://schemas.microsoft.com/office/powerpoint/2010/main" val="379000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459403C-4028-6A98-102F-2A3A400E5D7E}"/>
              </a:ext>
            </a:extLst>
          </p:cNvPr>
          <p:cNvGraphicFramePr>
            <a:graphicFrameLocks noGrp="1"/>
          </p:cNvGraphicFramePr>
          <p:nvPr>
            <p:extLst>
              <p:ext uri="{D42A27DB-BD31-4B8C-83A1-F6EECF244321}">
                <p14:modId xmlns:p14="http://schemas.microsoft.com/office/powerpoint/2010/main" val="1270158024"/>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1384195724"/>
                    </a:ext>
                  </a:extLst>
                </a:gridCol>
              </a:tblGrid>
              <a:tr h="6858000">
                <a:tc>
                  <a:txBody>
                    <a:bodyPr/>
                    <a:lstStyle/>
                    <a:p>
                      <a:pPr algn="ctr"/>
                      <a:r>
                        <a:rPr lang="en-US" sz="3200" dirty="0"/>
                        <a:t>                                              </a:t>
                      </a:r>
                      <a:r>
                        <a:rPr lang="en-US" sz="3200" b="1" u="sng" dirty="0">
                          <a:solidFill>
                            <a:schemeClr val="bg1"/>
                          </a:solidFill>
                        </a:rPr>
                        <a:t>Dataset Attributes information</a:t>
                      </a:r>
                      <a:endParaRPr lang="en-IN" sz="3200" b="1" u="sng" dirty="0">
                        <a:solidFill>
                          <a:schemeClr val="bg1"/>
                        </a:solidFill>
                      </a:endParaRPr>
                    </a:p>
                  </a:txBody>
                  <a:tcPr>
                    <a:solidFill>
                      <a:schemeClr val="bg2">
                        <a:lumMod val="10000"/>
                      </a:schemeClr>
                    </a:solidFill>
                  </a:tcPr>
                </a:tc>
                <a:extLst>
                  <a:ext uri="{0D108BD9-81ED-4DB2-BD59-A6C34878D82A}">
                    <a16:rowId xmlns:a16="http://schemas.microsoft.com/office/drawing/2014/main" val="4262745957"/>
                  </a:ext>
                </a:extLst>
              </a:tr>
            </a:tbl>
          </a:graphicData>
        </a:graphic>
      </p:graphicFrame>
      <p:pic>
        <p:nvPicPr>
          <p:cNvPr id="5" name="Picture 4">
            <a:extLst>
              <a:ext uri="{FF2B5EF4-FFF2-40B4-BE49-F238E27FC236}">
                <a16:creationId xmlns:a16="http://schemas.microsoft.com/office/drawing/2014/main" id="{58BD1402-BA8F-298C-9041-E6171F091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591504" cy="6858000"/>
          </a:xfrm>
          <a:prstGeom prst="rect">
            <a:avLst/>
          </a:prstGeom>
        </p:spPr>
      </p:pic>
      <p:graphicFrame>
        <p:nvGraphicFramePr>
          <p:cNvPr id="6" name="Table 5">
            <a:extLst>
              <a:ext uri="{FF2B5EF4-FFF2-40B4-BE49-F238E27FC236}">
                <a16:creationId xmlns:a16="http://schemas.microsoft.com/office/drawing/2014/main" id="{D133E3F2-7E90-3222-F8F5-6D40529A0A48}"/>
              </a:ext>
            </a:extLst>
          </p:cNvPr>
          <p:cNvGraphicFramePr>
            <a:graphicFrameLocks noGrp="1"/>
          </p:cNvGraphicFramePr>
          <p:nvPr>
            <p:extLst>
              <p:ext uri="{D42A27DB-BD31-4B8C-83A1-F6EECF244321}">
                <p14:modId xmlns:p14="http://schemas.microsoft.com/office/powerpoint/2010/main" val="3849552711"/>
              </p:ext>
            </p:extLst>
          </p:nvPr>
        </p:nvGraphicFramePr>
        <p:xfrm>
          <a:off x="5602014" y="536028"/>
          <a:ext cx="3289738" cy="4035971"/>
        </p:xfrm>
        <a:graphic>
          <a:graphicData uri="http://schemas.openxmlformats.org/drawingml/2006/table">
            <a:tbl>
              <a:tblPr firstRow="1" bandRow="1">
                <a:tableStyleId>{5C22544A-7EE6-4342-B048-85BDC9FD1C3A}</a:tableStyleId>
              </a:tblPr>
              <a:tblGrid>
                <a:gridCol w="3289738">
                  <a:extLst>
                    <a:ext uri="{9D8B030D-6E8A-4147-A177-3AD203B41FA5}">
                      <a16:colId xmlns:a16="http://schemas.microsoft.com/office/drawing/2014/main" val="2248213892"/>
                    </a:ext>
                  </a:extLst>
                </a:gridCol>
              </a:tblGrid>
              <a:tr h="4035971">
                <a:tc>
                  <a:txBody>
                    <a:bodyPr/>
                    <a:lstStyle/>
                    <a:p>
                      <a:r>
                        <a:rPr lang="en-US" sz="2400" u="sng" dirty="0">
                          <a:solidFill>
                            <a:srgbClr val="C00000"/>
                          </a:solidFill>
                        </a:rPr>
                        <a:t>Dataset 1</a:t>
                      </a:r>
                      <a:endParaRPr lang="en-IN" sz="2400" u="sng" dirty="0">
                        <a:solidFill>
                          <a:schemeClr val="tx1">
                            <a:lumMod val="95000"/>
                            <a:lumOff val="5000"/>
                          </a:schemeClr>
                        </a:solidFill>
                      </a:endParaRPr>
                    </a:p>
                    <a:p>
                      <a:r>
                        <a:rPr lang="en-IN" sz="2400" dirty="0">
                          <a:solidFill>
                            <a:schemeClr val="tx1">
                              <a:lumMod val="95000"/>
                              <a:lumOff val="5000"/>
                            </a:schemeClr>
                          </a:solidFill>
                        </a:rPr>
                        <a:t>The dataset 1 records the details of bike rental data with the help of date , season , holiday, working day, weather situation given all information with the help of temperature, humidity , windspeed.</a:t>
                      </a:r>
                    </a:p>
                  </a:txBody>
                  <a:tcPr>
                    <a:solidFill>
                      <a:schemeClr val="accent1">
                        <a:lumMod val="20000"/>
                        <a:lumOff val="80000"/>
                      </a:schemeClr>
                    </a:solidFill>
                  </a:tcPr>
                </a:tc>
                <a:extLst>
                  <a:ext uri="{0D108BD9-81ED-4DB2-BD59-A6C34878D82A}">
                    <a16:rowId xmlns:a16="http://schemas.microsoft.com/office/drawing/2014/main" val="2981472028"/>
                  </a:ext>
                </a:extLst>
              </a:tr>
            </a:tbl>
          </a:graphicData>
        </a:graphic>
      </p:graphicFrame>
      <p:graphicFrame>
        <p:nvGraphicFramePr>
          <p:cNvPr id="7" name="Table 6">
            <a:extLst>
              <a:ext uri="{FF2B5EF4-FFF2-40B4-BE49-F238E27FC236}">
                <a16:creationId xmlns:a16="http://schemas.microsoft.com/office/drawing/2014/main" id="{E90289D0-13B3-C18D-CB48-917461F07694}"/>
              </a:ext>
            </a:extLst>
          </p:cNvPr>
          <p:cNvGraphicFramePr>
            <a:graphicFrameLocks noGrp="1"/>
          </p:cNvGraphicFramePr>
          <p:nvPr>
            <p:extLst>
              <p:ext uri="{D42A27DB-BD31-4B8C-83A1-F6EECF244321}">
                <p14:modId xmlns:p14="http://schemas.microsoft.com/office/powerpoint/2010/main" val="250688039"/>
              </p:ext>
            </p:extLst>
          </p:nvPr>
        </p:nvGraphicFramePr>
        <p:xfrm>
          <a:off x="8902262" y="536028"/>
          <a:ext cx="3289738" cy="4035971"/>
        </p:xfrm>
        <a:graphic>
          <a:graphicData uri="http://schemas.openxmlformats.org/drawingml/2006/table">
            <a:tbl>
              <a:tblPr firstRow="1" bandRow="1">
                <a:tableStyleId>{5C22544A-7EE6-4342-B048-85BDC9FD1C3A}</a:tableStyleId>
              </a:tblPr>
              <a:tblGrid>
                <a:gridCol w="3289738">
                  <a:extLst>
                    <a:ext uri="{9D8B030D-6E8A-4147-A177-3AD203B41FA5}">
                      <a16:colId xmlns:a16="http://schemas.microsoft.com/office/drawing/2014/main" val="1082287550"/>
                    </a:ext>
                  </a:extLst>
                </a:gridCol>
              </a:tblGrid>
              <a:tr h="4035971">
                <a:tc>
                  <a:txBody>
                    <a:bodyPr/>
                    <a:lstStyle/>
                    <a:p>
                      <a:r>
                        <a:rPr lang="en-US" sz="2400" u="sng" dirty="0">
                          <a:solidFill>
                            <a:srgbClr val="C00000"/>
                          </a:solidFill>
                        </a:rPr>
                        <a:t>Dataset 2</a:t>
                      </a:r>
                      <a:endParaRPr lang="en-IN" sz="2400" u="sng" dirty="0">
                        <a:solidFill>
                          <a:schemeClr val="tx1">
                            <a:lumMod val="95000"/>
                            <a:lumOff val="5000"/>
                          </a:schemeClr>
                        </a:solidFill>
                      </a:endParaRPr>
                    </a:p>
                    <a:p>
                      <a:r>
                        <a:rPr lang="en-IN" sz="2400" dirty="0">
                          <a:solidFill>
                            <a:schemeClr val="tx1">
                              <a:lumMod val="95000"/>
                              <a:lumOff val="5000"/>
                            </a:schemeClr>
                          </a:solidFill>
                        </a:rPr>
                        <a:t>The dataset 2 is find out some null values. In a temperature for This  potentially  different in the dataset 1 . So we can create median values and put them.</a:t>
                      </a:r>
                      <a:endParaRPr lang="en-IN" dirty="0"/>
                    </a:p>
                  </a:txBody>
                  <a:tcPr>
                    <a:solidFill>
                      <a:schemeClr val="accent1">
                        <a:lumMod val="20000"/>
                        <a:lumOff val="80000"/>
                      </a:schemeClr>
                    </a:solidFill>
                  </a:tcPr>
                </a:tc>
                <a:extLst>
                  <a:ext uri="{0D108BD9-81ED-4DB2-BD59-A6C34878D82A}">
                    <a16:rowId xmlns:a16="http://schemas.microsoft.com/office/drawing/2014/main" val="2474757485"/>
                  </a:ext>
                </a:extLst>
              </a:tr>
            </a:tbl>
          </a:graphicData>
        </a:graphic>
      </p:graphicFrame>
      <p:graphicFrame>
        <p:nvGraphicFramePr>
          <p:cNvPr id="3" name="Table 2">
            <a:extLst>
              <a:ext uri="{FF2B5EF4-FFF2-40B4-BE49-F238E27FC236}">
                <a16:creationId xmlns:a16="http://schemas.microsoft.com/office/drawing/2014/main" id="{7EAD177B-775E-5948-BF6A-CA91C8EDEA9D}"/>
              </a:ext>
            </a:extLst>
          </p:cNvPr>
          <p:cNvGraphicFramePr>
            <a:graphicFrameLocks noGrp="1"/>
          </p:cNvGraphicFramePr>
          <p:nvPr>
            <p:extLst>
              <p:ext uri="{D42A27DB-BD31-4B8C-83A1-F6EECF244321}">
                <p14:modId xmlns:p14="http://schemas.microsoft.com/office/powerpoint/2010/main" val="1731952806"/>
              </p:ext>
            </p:extLst>
          </p:nvPr>
        </p:nvGraphicFramePr>
        <p:xfrm>
          <a:off x="5602014" y="4571998"/>
          <a:ext cx="6589986" cy="2286002"/>
        </p:xfrm>
        <a:graphic>
          <a:graphicData uri="http://schemas.openxmlformats.org/drawingml/2006/table">
            <a:tbl>
              <a:tblPr firstRow="1" bandRow="1">
                <a:tableStyleId>{5C22544A-7EE6-4342-B048-85BDC9FD1C3A}</a:tableStyleId>
              </a:tblPr>
              <a:tblGrid>
                <a:gridCol w="6589986">
                  <a:extLst>
                    <a:ext uri="{9D8B030D-6E8A-4147-A177-3AD203B41FA5}">
                      <a16:colId xmlns:a16="http://schemas.microsoft.com/office/drawing/2014/main" val="2491533962"/>
                    </a:ext>
                  </a:extLst>
                </a:gridCol>
              </a:tblGrid>
              <a:tr h="22860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u="sng" dirty="0">
                          <a:solidFill>
                            <a:srgbClr val="C00000"/>
                          </a:solidFill>
                        </a:rPr>
                        <a:t>Dataset 3</a:t>
                      </a:r>
                      <a:endParaRPr lang="en-IN" sz="2400" u="sng" dirty="0">
                        <a:solidFill>
                          <a:schemeClr val="tx1">
                            <a:lumMod val="95000"/>
                            <a:lumOff val="5000"/>
                          </a:schemeClr>
                        </a:solidFill>
                      </a:endParaRPr>
                    </a:p>
                    <a:p>
                      <a:r>
                        <a:rPr lang="en-IN" sz="2400" dirty="0">
                          <a:solidFill>
                            <a:schemeClr val="tx1">
                              <a:lumMod val="95000"/>
                              <a:lumOff val="5000"/>
                            </a:schemeClr>
                          </a:solidFill>
                        </a:rPr>
                        <a:t>The dataset 3 we will observed that some interaction the data of merging the data1 and data 2. so it include additional information for graphically used for duration for temp. and </a:t>
                      </a:r>
                      <a:r>
                        <a:rPr lang="en-IN" sz="2400" dirty="0" err="1">
                          <a:solidFill>
                            <a:schemeClr val="tx1">
                              <a:lumMod val="95000"/>
                              <a:lumOff val="5000"/>
                            </a:schemeClr>
                          </a:solidFill>
                        </a:rPr>
                        <a:t>humudity</a:t>
                      </a:r>
                      <a:r>
                        <a:rPr lang="en-IN" sz="2400" dirty="0">
                          <a:solidFill>
                            <a:schemeClr val="tx1">
                              <a:lumMod val="95000"/>
                              <a:lumOff val="5000"/>
                            </a:schemeClr>
                          </a:solidFill>
                        </a:rPr>
                        <a:t>. </a:t>
                      </a:r>
                    </a:p>
                  </a:txBody>
                  <a:tcPr>
                    <a:solidFill>
                      <a:schemeClr val="accent1">
                        <a:lumMod val="20000"/>
                        <a:lumOff val="80000"/>
                      </a:schemeClr>
                    </a:solidFill>
                  </a:tcPr>
                </a:tc>
                <a:extLst>
                  <a:ext uri="{0D108BD9-81ED-4DB2-BD59-A6C34878D82A}">
                    <a16:rowId xmlns:a16="http://schemas.microsoft.com/office/drawing/2014/main" val="4083238546"/>
                  </a:ext>
                </a:extLst>
              </a:tr>
            </a:tbl>
          </a:graphicData>
        </a:graphic>
      </p:graphicFrame>
    </p:spTree>
    <p:extLst>
      <p:ext uri="{BB962C8B-B14F-4D97-AF65-F5344CB8AC3E}">
        <p14:creationId xmlns:p14="http://schemas.microsoft.com/office/powerpoint/2010/main" val="2114207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9CC63FE-1B1E-97C4-48BA-0D47872450A4}"/>
              </a:ext>
            </a:extLst>
          </p:cNvPr>
          <p:cNvGraphicFramePr>
            <a:graphicFrameLocks noGrp="1"/>
          </p:cNvGraphicFramePr>
          <p:nvPr>
            <p:extLst>
              <p:ext uri="{D42A27DB-BD31-4B8C-83A1-F6EECF244321}">
                <p14:modId xmlns:p14="http://schemas.microsoft.com/office/powerpoint/2010/main" val="3998833729"/>
              </p:ext>
            </p:extLst>
          </p:nvPr>
        </p:nvGraphicFramePr>
        <p:xfrm>
          <a:off x="10510" y="-1"/>
          <a:ext cx="12181490" cy="7050337"/>
        </p:xfrm>
        <a:graphic>
          <a:graphicData uri="http://schemas.openxmlformats.org/drawingml/2006/table">
            <a:tbl>
              <a:tblPr firstRow="1" bandRow="1">
                <a:tableStyleId>{5C22544A-7EE6-4342-B048-85BDC9FD1C3A}</a:tableStyleId>
              </a:tblPr>
              <a:tblGrid>
                <a:gridCol w="12181490">
                  <a:extLst>
                    <a:ext uri="{9D8B030D-6E8A-4147-A177-3AD203B41FA5}">
                      <a16:colId xmlns:a16="http://schemas.microsoft.com/office/drawing/2014/main" val="3131401273"/>
                    </a:ext>
                  </a:extLst>
                </a:gridCol>
              </a:tblGrid>
              <a:tr h="7050337">
                <a:tc>
                  <a:txBody>
                    <a:bodyPr/>
                    <a:lstStyle/>
                    <a:p>
                      <a:pPr algn="ctr"/>
                      <a:r>
                        <a:rPr lang="en-US" sz="3600" b="1" u="sng" dirty="0">
                          <a:solidFill>
                            <a:srgbClr val="FF0000"/>
                          </a:solidFill>
                        </a:rPr>
                        <a:t>Tools and Techniques</a:t>
                      </a:r>
                    </a:p>
                    <a:p>
                      <a:endParaRPr lang="en-US" sz="3600" b="1" i="0" u="none" strike="noStrike" kern="1200" baseline="0" dirty="0">
                        <a:solidFill>
                          <a:schemeClr val="tx1"/>
                        </a:solidFill>
                        <a:latin typeface="+mn-lt"/>
                        <a:ea typeface="+mn-ea"/>
                        <a:cs typeface="+mn-cs"/>
                      </a:endParaRPr>
                    </a:p>
                    <a:p>
                      <a:r>
                        <a:rPr lang="en-IN" sz="3600" b="1" i="0" u="sng" strike="noStrike" kern="1200" baseline="0" dirty="0">
                          <a:solidFill>
                            <a:srgbClr val="FF0000"/>
                          </a:solidFill>
                          <a:latin typeface="Arial" panose="020B0604020202020204" pitchFamily="34" charset="0"/>
                          <a:ea typeface="+mn-ea"/>
                          <a:cs typeface="Arial" panose="020B0604020202020204" pitchFamily="34" charset="0"/>
                        </a:rPr>
                        <a:t>Tools</a:t>
                      </a:r>
                    </a:p>
                    <a:p>
                      <a:r>
                        <a:rPr lang="en-IN" sz="1800" b="0" i="0" u="none" strike="noStrike" kern="1200" baseline="0" dirty="0">
                          <a:solidFill>
                            <a:schemeClr val="lt1"/>
                          </a:solidFill>
                          <a:latin typeface="+mn-lt"/>
                          <a:ea typeface="+mn-ea"/>
                          <a:cs typeface="+mn-cs"/>
                        </a:rPr>
                        <a:t>  </a:t>
                      </a:r>
                      <a:r>
                        <a:rPr lang="en-IN" sz="2800" b="0" i="0" u="none" strike="noStrike" kern="1200" baseline="0" dirty="0">
                          <a:solidFill>
                            <a:schemeClr val="lt1"/>
                          </a:solidFill>
                          <a:latin typeface="+mn-lt"/>
                          <a:ea typeface="+mn-ea"/>
                          <a:cs typeface="+mn-cs"/>
                        </a:rPr>
                        <a:t>1.  Pandas for data manipulation. </a:t>
                      </a:r>
                    </a:p>
                    <a:p>
                      <a:r>
                        <a:rPr lang="en-IN" sz="2800" b="0" i="0" u="none" strike="noStrike" kern="1200" baseline="0" dirty="0">
                          <a:solidFill>
                            <a:schemeClr val="lt1"/>
                          </a:solidFill>
                          <a:latin typeface="+mn-lt"/>
                          <a:ea typeface="+mn-ea"/>
                          <a:cs typeface="+mn-cs"/>
                        </a:rPr>
                        <a:t> 2.  NumPy for numerical computations. </a:t>
                      </a:r>
                    </a:p>
                    <a:p>
                      <a:r>
                        <a:rPr lang="en-IN" sz="2800" b="0" i="0" u="none" strike="noStrike" kern="1200" baseline="0" dirty="0">
                          <a:solidFill>
                            <a:schemeClr val="lt1"/>
                          </a:solidFill>
                          <a:latin typeface="+mn-lt"/>
                          <a:ea typeface="+mn-ea"/>
                          <a:cs typeface="+mn-cs"/>
                        </a:rPr>
                        <a:t> 3. Matplotlib for graphically presentation.</a:t>
                      </a:r>
                    </a:p>
                    <a:p>
                      <a:r>
                        <a:rPr lang="en-IN" sz="2800" b="0" i="0" u="none" strike="noStrike" kern="1200" baseline="0" dirty="0">
                          <a:solidFill>
                            <a:schemeClr val="lt1"/>
                          </a:solidFill>
                          <a:latin typeface="+mn-lt"/>
                          <a:ea typeface="+mn-ea"/>
                          <a:cs typeface="+mn-cs"/>
                        </a:rPr>
                        <a:t> 4. Seaborn for advance of visualization process.</a:t>
                      </a:r>
                    </a:p>
                    <a:p>
                      <a:endParaRPr lang="en-IN" sz="1800" b="0" i="0" u="none" strike="noStrike" kern="1200" baseline="0" dirty="0">
                        <a:solidFill>
                          <a:schemeClr val="lt1"/>
                        </a:solidFill>
                        <a:latin typeface="+mn-lt"/>
                        <a:ea typeface="+mn-ea"/>
                        <a:cs typeface="+mn-cs"/>
                      </a:endParaRPr>
                    </a:p>
                    <a:p>
                      <a:pPr algn="ctr"/>
                      <a:endParaRPr lang="en-IN" sz="3600" dirty="0">
                        <a:solidFill>
                          <a:schemeClr val="tx1"/>
                        </a:solidFill>
                      </a:endParaRPr>
                    </a:p>
                  </a:txBody>
                  <a:tcPr>
                    <a:solidFill>
                      <a:srgbClr val="3E3955"/>
                    </a:solidFill>
                  </a:tcPr>
                </a:tc>
                <a:extLst>
                  <a:ext uri="{0D108BD9-81ED-4DB2-BD59-A6C34878D82A}">
                    <a16:rowId xmlns:a16="http://schemas.microsoft.com/office/drawing/2014/main" val="2447227544"/>
                  </a:ext>
                </a:extLst>
              </a:tr>
            </a:tbl>
          </a:graphicData>
        </a:graphic>
      </p:graphicFrame>
      <p:graphicFrame>
        <p:nvGraphicFramePr>
          <p:cNvPr id="3" name="Table 2">
            <a:extLst>
              <a:ext uri="{FF2B5EF4-FFF2-40B4-BE49-F238E27FC236}">
                <a16:creationId xmlns:a16="http://schemas.microsoft.com/office/drawing/2014/main" id="{DBE16E2A-1128-02B7-03F0-5ACD6007DF54}"/>
              </a:ext>
            </a:extLst>
          </p:cNvPr>
          <p:cNvGraphicFramePr>
            <a:graphicFrameLocks noGrp="1"/>
          </p:cNvGraphicFramePr>
          <p:nvPr>
            <p:extLst>
              <p:ext uri="{D42A27DB-BD31-4B8C-83A1-F6EECF244321}">
                <p14:modId xmlns:p14="http://schemas.microsoft.com/office/powerpoint/2010/main" val="793310486"/>
              </p:ext>
            </p:extLst>
          </p:nvPr>
        </p:nvGraphicFramePr>
        <p:xfrm>
          <a:off x="10510" y="3636577"/>
          <a:ext cx="12181490" cy="3413760"/>
        </p:xfrm>
        <a:graphic>
          <a:graphicData uri="http://schemas.openxmlformats.org/drawingml/2006/table">
            <a:tbl>
              <a:tblPr firstRow="1" bandRow="1">
                <a:tableStyleId>{5C22544A-7EE6-4342-B048-85BDC9FD1C3A}</a:tableStyleId>
              </a:tblPr>
              <a:tblGrid>
                <a:gridCol w="12181490">
                  <a:extLst>
                    <a:ext uri="{9D8B030D-6E8A-4147-A177-3AD203B41FA5}">
                      <a16:colId xmlns:a16="http://schemas.microsoft.com/office/drawing/2014/main" val="3347675956"/>
                    </a:ext>
                  </a:extLst>
                </a:gridCol>
              </a:tblGrid>
              <a:tr h="2436297">
                <a:tc>
                  <a:txBody>
                    <a:bodyPr/>
                    <a:lstStyle/>
                    <a:p>
                      <a:endParaRPr lang="en-IN" sz="1800" b="0" i="0" u="none" strike="noStrike" kern="1200" baseline="0" dirty="0">
                        <a:solidFill>
                          <a:schemeClr val="lt1"/>
                        </a:solidFill>
                        <a:latin typeface="+mn-lt"/>
                        <a:ea typeface="+mn-ea"/>
                        <a:cs typeface="+mn-cs"/>
                      </a:endParaRPr>
                    </a:p>
                    <a:p>
                      <a:r>
                        <a:rPr lang="en-IN" sz="3600" b="1" i="0" u="sng" strike="noStrike" kern="1200" baseline="0" dirty="0">
                          <a:solidFill>
                            <a:srgbClr val="FF0000"/>
                          </a:solidFill>
                          <a:latin typeface="+mn-lt"/>
                          <a:ea typeface="+mn-ea"/>
                          <a:cs typeface="+mn-cs"/>
                        </a:rPr>
                        <a:t>Techniques</a:t>
                      </a:r>
                      <a:r>
                        <a:rPr lang="en-IN" sz="3600" b="1" i="0" u="sng" strike="noStrike" kern="1200" baseline="0" dirty="0">
                          <a:solidFill>
                            <a:schemeClr val="lt1"/>
                          </a:solidFill>
                          <a:latin typeface="+mn-lt"/>
                          <a:ea typeface="+mn-ea"/>
                          <a:cs typeface="+mn-cs"/>
                        </a:rPr>
                        <a:t> </a:t>
                      </a:r>
                    </a:p>
                    <a:p>
                      <a:r>
                        <a:rPr lang="en-IN" sz="3200" b="0" i="0" u="none" strike="noStrike" kern="1200" baseline="0" dirty="0">
                          <a:solidFill>
                            <a:schemeClr val="tx1">
                              <a:lumMod val="95000"/>
                              <a:lumOff val="5000"/>
                            </a:schemeClr>
                          </a:solidFill>
                          <a:latin typeface="+mn-lt"/>
                          <a:ea typeface="+mn-ea"/>
                          <a:cs typeface="+mn-cs"/>
                        </a:rPr>
                        <a:t>Merging datasets. </a:t>
                      </a:r>
                    </a:p>
                    <a:p>
                      <a:r>
                        <a:rPr lang="en-IN" sz="3200" b="0" i="0" u="none" strike="noStrike" kern="1200" baseline="0" dirty="0">
                          <a:solidFill>
                            <a:schemeClr val="tx1">
                              <a:lumMod val="95000"/>
                              <a:lumOff val="5000"/>
                            </a:schemeClr>
                          </a:solidFill>
                          <a:latin typeface="+mn-lt"/>
                          <a:ea typeface="+mn-ea"/>
                          <a:cs typeface="+mn-cs"/>
                        </a:rPr>
                        <a:t>Imputation of missing values. </a:t>
                      </a:r>
                    </a:p>
                    <a:p>
                      <a:r>
                        <a:rPr lang="en-IN" sz="3200" b="0" i="0" u="none" strike="noStrike" kern="1200" baseline="0" dirty="0">
                          <a:solidFill>
                            <a:schemeClr val="tx1">
                              <a:lumMod val="95000"/>
                              <a:lumOff val="5000"/>
                            </a:schemeClr>
                          </a:solidFill>
                          <a:latin typeface="+mn-lt"/>
                          <a:ea typeface="+mn-ea"/>
                          <a:cs typeface="+mn-cs"/>
                        </a:rPr>
                        <a:t>Outlier detection and handling. </a:t>
                      </a:r>
                    </a:p>
                    <a:p>
                      <a:r>
                        <a:rPr lang="en-IN" sz="3200" b="0" i="0" u="none" strike="noStrike" kern="1200" baseline="0" dirty="0">
                          <a:solidFill>
                            <a:schemeClr val="tx1">
                              <a:lumMod val="95000"/>
                              <a:lumOff val="5000"/>
                            </a:schemeClr>
                          </a:solidFill>
                          <a:latin typeface="+mn-lt"/>
                          <a:ea typeface="+mn-ea"/>
                          <a:cs typeface="+mn-cs"/>
                        </a:rPr>
                        <a:t>Data validation and exploration. </a:t>
                      </a:r>
                    </a:p>
                    <a:p>
                      <a:endParaRPr lang="en-IN" sz="1800" b="0" i="0" u="none" strike="noStrike" kern="1200" baseline="0" dirty="0">
                        <a:solidFill>
                          <a:schemeClr val="lt1"/>
                        </a:solidFill>
                        <a:latin typeface="+mn-lt"/>
                        <a:ea typeface="+mn-ea"/>
                        <a:cs typeface="+mn-cs"/>
                      </a:endParaRPr>
                    </a:p>
                    <a:p>
                      <a:endParaRPr lang="en-IN" dirty="0"/>
                    </a:p>
                  </a:txBody>
                  <a:tcPr>
                    <a:solidFill>
                      <a:srgbClr val="00B0F0"/>
                    </a:solidFill>
                  </a:tcPr>
                </a:tc>
                <a:extLst>
                  <a:ext uri="{0D108BD9-81ED-4DB2-BD59-A6C34878D82A}">
                    <a16:rowId xmlns:a16="http://schemas.microsoft.com/office/drawing/2014/main" val="3265853778"/>
                  </a:ext>
                </a:extLst>
              </a:tr>
            </a:tbl>
          </a:graphicData>
        </a:graphic>
      </p:graphicFrame>
    </p:spTree>
    <p:extLst>
      <p:ext uri="{BB962C8B-B14F-4D97-AF65-F5344CB8AC3E}">
        <p14:creationId xmlns:p14="http://schemas.microsoft.com/office/powerpoint/2010/main" val="39148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586336E-62E7-4DDA-D648-880C14C5B86A}"/>
              </a:ext>
            </a:extLst>
          </p:cNvPr>
          <p:cNvGraphicFramePr>
            <a:graphicFrameLocks noGrp="1"/>
          </p:cNvGraphicFramePr>
          <p:nvPr>
            <p:extLst>
              <p:ext uri="{D42A27DB-BD31-4B8C-83A1-F6EECF244321}">
                <p14:modId xmlns:p14="http://schemas.microsoft.com/office/powerpoint/2010/main" val="3985629764"/>
              </p:ext>
            </p:extLst>
          </p:nvPr>
        </p:nvGraphicFramePr>
        <p:xfrm>
          <a:off x="0" y="-1"/>
          <a:ext cx="12192000" cy="7094483"/>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099561387"/>
                    </a:ext>
                  </a:extLst>
                </a:gridCol>
              </a:tblGrid>
              <a:tr h="7094483">
                <a:tc>
                  <a:txBody>
                    <a:bodyPr/>
                    <a:lstStyle/>
                    <a:p>
                      <a:r>
                        <a:rPr lang="en-US" dirty="0"/>
                        <a:t>f</a:t>
                      </a:r>
                      <a:endParaRPr lang="en-IN" dirty="0"/>
                    </a:p>
                  </a:txBody>
                  <a:tcPr/>
                </a:tc>
                <a:extLst>
                  <a:ext uri="{0D108BD9-81ED-4DB2-BD59-A6C34878D82A}">
                    <a16:rowId xmlns:a16="http://schemas.microsoft.com/office/drawing/2014/main" val="1241113981"/>
                  </a:ext>
                </a:extLst>
              </a:tr>
            </a:tbl>
          </a:graphicData>
        </a:graphic>
      </p:graphicFrame>
      <p:pic>
        <p:nvPicPr>
          <p:cNvPr id="4" name="Picture 3">
            <a:extLst>
              <a:ext uri="{FF2B5EF4-FFF2-40B4-BE49-F238E27FC236}">
                <a16:creationId xmlns:a16="http://schemas.microsoft.com/office/drawing/2014/main" id="{B21ABF36-8F4A-B6C0-6306-0BF0095390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1" y="-16229"/>
            <a:ext cx="12192000" cy="3176290"/>
          </a:xfrm>
          <a:prstGeom prst="rect">
            <a:avLst/>
          </a:prstGeom>
        </p:spPr>
      </p:pic>
      <p:pic>
        <p:nvPicPr>
          <p:cNvPr id="8" name="Picture 7">
            <a:extLst>
              <a:ext uri="{FF2B5EF4-FFF2-40B4-BE49-F238E27FC236}">
                <a16:creationId xmlns:a16="http://schemas.microsoft.com/office/drawing/2014/main" id="{4298C6C7-C841-F716-2CED-4752F9DA9F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160061"/>
            <a:ext cx="4002283" cy="3950651"/>
          </a:xfrm>
          <a:prstGeom prst="rect">
            <a:avLst/>
          </a:prstGeom>
        </p:spPr>
      </p:pic>
      <p:graphicFrame>
        <p:nvGraphicFramePr>
          <p:cNvPr id="10" name="Table 9">
            <a:extLst>
              <a:ext uri="{FF2B5EF4-FFF2-40B4-BE49-F238E27FC236}">
                <a16:creationId xmlns:a16="http://schemas.microsoft.com/office/drawing/2014/main" id="{DBD1199C-57B4-01EB-2178-62134CCD156E}"/>
              </a:ext>
            </a:extLst>
          </p:cNvPr>
          <p:cNvGraphicFramePr>
            <a:graphicFrameLocks noGrp="1"/>
          </p:cNvGraphicFramePr>
          <p:nvPr>
            <p:extLst>
              <p:ext uri="{D42A27DB-BD31-4B8C-83A1-F6EECF244321}">
                <p14:modId xmlns:p14="http://schemas.microsoft.com/office/powerpoint/2010/main" val="592254727"/>
              </p:ext>
            </p:extLst>
          </p:nvPr>
        </p:nvGraphicFramePr>
        <p:xfrm>
          <a:off x="4023304" y="3176290"/>
          <a:ext cx="8168696" cy="3962400"/>
        </p:xfrm>
        <a:graphic>
          <a:graphicData uri="http://schemas.openxmlformats.org/drawingml/2006/table">
            <a:tbl>
              <a:tblPr firstRow="1" bandRow="1">
                <a:tableStyleId>{5C22544A-7EE6-4342-B048-85BDC9FD1C3A}</a:tableStyleId>
              </a:tblPr>
              <a:tblGrid>
                <a:gridCol w="8168696">
                  <a:extLst>
                    <a:ext uri="{9D8B030D-6E8A-4147-A177-3AD203B41FA5}">
                      <a16:colId xmlns:a16="http://schemas.microsoft.com/office/drawing/2014/main" val="2339190433"/>
                    </a:ext>
                  </a:extLst>
                </a:gridCol>
              </a:tblGrid>
              <a:tr h="3918192">
                <a:tc>
                  <a:txBody>
                    <a:bodyPr/>
                    <a:lstStyle/>
                    <a:p>
                      <a:r>
                        <a:rPr lang="en-US" sz="2000" b="1" u="none" dirty="0">
                          <a:solidFill>
                            <a:srgbClr val="FD6060"/>
                          </a:solidFill>
                          <a:latin typeface="Arial" panose="020B0604020202020204" pitchFamily="34" charset="0"/>
                          <a:cs typeface="Arial" panose="020B0604020202020204" pitchFamily="34" charset="0"/>
                        </a:rPr>
                        <a:t>                    </a:t>
                      </a:r>
                    </a:p>
                    <a:p>
                      <a:endParaRPr lang="en-US" dirty="0">
                        <a:solidFill>
                          <a:schemeClr val="bg1"/>
                        </a:solidFill>
                      </a:endParaRPr>
                    </a:p>
                    <a:p>
                      <a:r>
                        <a:rPr lang="en-US" sz="2000" dirty="0">
                          <a:solidFill>
                            <a:schemeClr val="bg1"/>
                          </a:solidFill>
                        </a:rPr>
                        <a:t>Firstly, the dataset 1 and dataset 2 Integration after cleaning  all the both data. With the help some function like : drop values, duplicates values, null values, info etc. </a:t>
                      </a:r>
                      <a:r>
                        <a:rPr lang="en-US" sz="2000" b="0" i="0" kern="1200" dirty="0">
                          <a:solidFill>
                            <a:schemeClr val="lt1"/>
                          </a:solidFill>
                          <a:effectLst/>
                          <a:latin typeface="+mn-lt"/>
                          <a:ea typeface="+mn-ea"/>
                          <a:cs typeface="+mn-cs"/>
                        </a:rPr>
                        <a:t>Data merging with</a:t>
                      </a:r>
                      <a:r>
                        <a:rPr lang="en-US" sz="2000" b="0" i="0" kern="1200" baseline="0" dirty="0">
                          <a:solidFill>
                            <a:schemeClr val="lt1"/>
                          </a:solidFill>
                          <a:effectLst/>
                          <a:latin typeface="+mn-lt"/>
                          <a:ea typeface="+mn-ea"/>
                          <a:cs typeface="+mn-cs"/>
                        </a:rPr>
                        <a:t> the help of some statistical techniques</a:t>
                      </a:r>
                      <a:r>
                        <a:rPr lang="en-US" sz="2000" b="0" i="0" kern="1200" dirty="0">
                          <a:solidFill>
                            <a:schemeClr val="lt1"/>
                          </a:solidFill>
                          <a:effectLst/>
                          <a:latin typeface="+mn-lt"/>
                          <a:ea typeface="+mn-ea"/>
                          <a:cs typeface="+mn-cs"/>
                        </a:rPr>
                        <a:t> combining data from multiple sources, often disparate or heterogeneous, into a single, unified dataset.</a:t>
                      </a:r>
                      <a:endParaRPr lang="en-US" sz="2000" dirty="0">
                        <a:solidFill>
                          <a:schemeClr val="bg1"/>
                        </a:solidFill>
                      </a:endParaRPr>
                    </a:p>
                    <a:p>
                      <a:endParaRPr lang="en-US" dirty="0">
                        <a:solidFill>
                          <a:schemeClr val="bg1"/>
                        </a:solidFill>
                      </a:endParaRPr>
                    </a:p>
                    <a:p>
                      <a:endParaRPr lang="en-IN" dirty="0">
                        <a:solidFill>
                          <a:schemeClr val="bg1"/>
                        </a:solidFill>
                      </a:endParaRPr>
                    </a:p>
                    <a:p>
                      <a:r>
                        <a:rPr lang="en-IN" sz="2000" b="1" u="none" dirty="0">
                          <a:solidFill>
                            <a:schemeClr val="bg1"/>
                          </a:solidFill>
                        </a:rPr>
                        <a:t>Identify all the missing values for combining dataset using perform basic statistical</a:t>
                      </a:r>
                      <a:r>
                        <a:rPr lang="en-IN" sz="2000" b="1" u="none" baseline="0" dirty="0">
                          <a:solidFill>
                            <a:schemeClr val="bg1"/>
                          </a:solidFill>
                        </a:rPr>
                        <a:t>  analysis to evaluate the Central tendency (</a:t>
                      </a:r>
                      <a:r>
                        <a:rPr lang="en-IN" sz="2000" b="1" u="none" dirty="0">
                          <a:solidFill>
                            <a:schemeClr val="bg1"/>
                          </a:solidFill>
                        </a:rPr>
                        <a:t>mean , median, mode)  to filling all the missing values. And cleaning the data form of visualization and </a:t>
                      </a:r>
                      <a:r>
                        <a:rPr lang="en-IN" sz="2000" b="1" i="0" u="none" kern="1200" dirty="0">
                          <a:solidFill>
                            <a:schemeClr val="lt1"/>
                          </a:solidFill>
                          <a:effectLst/>
                          <a:latin typeface="+mn-lt"/>
                          <a:ea typeface="+mn-ea"/>
                          <a:cs typeface="+mn-cs"/>
                        </a:rPr>
                        <a:t>analysis od data.</a:t>
                      </a:r>
                      <a:endParaRPr lang="en-IN" sz="2000" b="1" u="none" dirty="0">
                        <a:solidFill>
                          <a:schemeClr val="bg1"/>
                        </a:solidFill>
                      </a:endParaRPr>
                    </a:p>
                  </a:txBody>
                  <a:tcPr>
                    <a:solidFill>
                      <a:srgbClr val="004982"/>
                    </a:solidFill>
                  </a:tcPr>
                </a:tc>
                <a:extLst>
                  <a:ext uri="{0D108BD9-81ED-4DB2-BD59-A6C34878D82A}">
                    <a16:rowId xmlns:a16="http://schemas.microsoft.com/office/drawing/2014/main" val="4014214852"/>
                  </a:ext>
                </a:extLst>
              </a:tr>
            </a:tbl>
          </a:graphicData>
        </a:graphic>
      </p:graphicFrame>
      <p:sp>
        <p:nvSpPr>
          <p:cNvPr id="13" name="Rectangle: Rounded Corners 12">
            <a:extLst>
              <a:ext uri="{FF2B5EF4-FFF2-40B4-BE49-F238E27FC236}">
                <a16:creationId xmlns:a16="http://schemas.microsoft.com/office/drawing/2014/main" id="{33590210-62D0-E94B-E33A-E55A5CD755F0}"/>
              </a:ext>
            </a:extLst>
          </p:cNvPr>
          <p:cNvSpPr/>
          <p:nvPr/>
        </p:nvSpPr>
        <p:spPr>
          <a:xfrm>
            <a:off x="6096000" y="5265684"/>
            <a:ext cx="4298730" cy="617945"/>
          </a:xfrm>
          <a:prstGeom prst="roundRect">
            <a:avLst/>
          </a:prstGeom>
          <a:solidFill>
            <a:srgbClr val="99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D6060"/>
                </a:solidFill>
                <a:latin typeface="Arial" panose="020B0604020202020204" pitchFamily="34" charset="0"/>
                <a:cs typeface="Arial" panose="020B0604020202020204" pitchFamily="34" charset="0"/>
              </a:rPr>
              <a:t>Task 2 :  Handling Missing Values </a:t>
            </a:r>
            <a:endParaRPr lang="en-IN" sz="2000" b="1" dirty="0"/>
          </a:p>
        </p:txBody>
      </p:sp>
      <p:sp>
        <p:nvSpPr>
          <p:cNvPr id="17" name="Rectangle: Rounded Corners 16">
            <a:extLst>
              <a:ext uri="{FF2B5EF4-FFF2-40B4-BE49-F238E27FC236}">
                <a16:creationId xmlns:a16="http://schemas.microsoft.com/office/drawing/2014/main" id="{70170437-712A-0F7E-CF2E-1AE289E27C8D}"/>
              </a:ext>
            </a:extLst>
          </p:cNvPr>
          <p:cNvSpPr/>
          <p:nvPr/>
        </p:nvSpPr>
        <p:spPr>
          <a:xfrm>
            <a:off x="6063760" y="3176289"/>
            <a:ext cx="4298730" cy="617945"/>
          </a:xfrm>
          <a:prstGeom prst="roundRect">
            <a:avLst/>
          </a:prstGeom>
          <a:solidFill>
            <a:srgbClr val="99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D6060"/>
                </a:solidFill>
                <a:latin typeface="Arial" panose="020B0604020202020204" pitchFamily="34" charset="0"/>
                <a:cs typeface="Arial" panose="020B0604020202020204" pitchFamily="34" charset="0"/>
              </a:rPr>
              <a:t>Task 1 :  Combining datasets</a:t>
            </a:r>
            <a:r>
              <a:rPr lang="en-US" sz="2000" b="1" u="sng" dirty="0">
                <a:solidFill>
                  <a:srgbClr val="FD6060"/>
                </a:solidFill>
                <a:latin typeface="Arial" panose="020B0604020202020204" pitchFamily="34" charset="0"/>
                <a:cs typeface="Arial" panose="020B0604020202020204" pitchFamily="34" charset="0"/>
              </a:rPr>
              <a:t> </a:t>
            </a:r>
            <a:endParaRPr lang="en-IN" sz="2000" b="1" u="sng" dirty="0"/>
          </a:p>
          <a:p>
            <a:pPr algn="ctr"/>
            <a:endParaRPr lang="en-IN" dirty="0"/>
          </a:p>
        </p:txBody>
      </p:sp>
    </p:spTree>
    <p:extLst>
      <p:ext uri="{BB962C8B-B14F-4D97-AF65-F5344CB8AC3E}">
        <p14:creationId xmlns:p14="http://schemas.microsoft.com/office/powerpoint/2010/main" val="210646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80">
                                          <p:stCondLst>
                                            <p:cond delay="0"/>
                                          </p:stCondLst>
                                        </p:cTn>
                                        <p:tgtEl>
                                          <p:spTgt spid="2"/>
                                        </p:tgtEl>
                                      </p:cBhvr>
                                    </p:animEffect>
                                    <p:anim calcmode="lin" valueType="num">
                                      <p:cBhvr>
                                        <p:cTn id="20"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5" dur="26">
                                          <p:stCondLst>
                                            <p:cond delay="650"/>
                                          </p:stCondLst>
                                        </p:cTn>
                                        <p:tgtEl>
                                          <p:spTgt spid="2"/>
                                        </p:tgtEl>
                                      </p:cBhvr>
                                      <p:to x="100000" y="60000"/>
                                    </p:animScale>
                                    <p:animScale>
                                      <p:cBhvr>
                                        <p:cTn id="26" dur="166" decel="50000">
                                          <p:stCondLst>
                                            <p:cond delay="676"/>
                                          </p:stCondLst>
                                        </p:cTn>
                                        <p:tgtEl>
                                          <p:spTgt spid="2"/>
                                        </p:tgtEl>
                                      </p:cBhvr>
                                      <p:to x="100000" y="100000"/>
                                    </p:animScale>
                                    <p:animScale>
                                      <p:cBhvr>
                                        <p:cTn id="27" dur="26">
                                          <p:stCondLst>
                                            <p:cond delay="1312"/>
                                          </p:stCondLst>
                                        </p:cTn>
                                        <p:tgtEl>
                                          <p:spTgt spid="2"/>
                                        </p:tgtEl>
                                      </p:cBhvr>
                                      <p:to x="100000" y="80000"/>
                                    </p:animScale>
                                    <p:animScale>
                                      <p:cBhvr>
                                        <p:cTn id="28" dur="166" decel="50000">
                                          <p:stCondLst>
                                            <p:cond delay="1338"/>
                                          </p:stCondLst>
                                        </p:cTn>
                                        <p:tgtEl>
                                          <p:spTgt spid="2"/>
                                        </p:tgtEl>
                                      </p:cBhvr>
                                      <p:to x="100000" y="100000"/>
                                    </p:animScale>
                                    <p:animScale>
                                      <p:cBhvr>
                                        <p:cTn id="29" dur="26">
                                          <p:stCondLst>
                                            <p:cond delay="1642"/>
                                          </p:stCondLst>
                                        </p:cTn>
                                        <p:tgtEl>
                                          <p:spTgt spid="2"/>
                                        </p:tgtEl>
                                      </p:cBhvr>
                                      <p:to x="100000" y="90000"/>
                                    </p:animScale>
                                    <p:animScale>
                                      <p:cBhvr>
                                        <p:cTn id="30" dur="166" decel="50000">
                                          <p:stCondLst>
                                            <p:cond delay="1668"/>
                                          </p:stCondLst>
                                        </p:cTn>
                                        <p:tgtEl>
                                          <p:spTgt spid="2"/>
                                        </p:tgtEl>
                                      </p:cBhvr>
                                      <p:to x="100000" y="100000"/>
                                    </p:animScale>
                                    <p:animScale>
                                      <p:cBhvr>
                                        <p:cTn id="31" dur="26">
                                          <p:stCondLst>
                                            <p:cond delay="1808"/>
                                          </p:stCondLst>
                                        </p:cTn>
                                        <p:tgtEl>
                                          <p:spTgt spid="2"/>
                                        </p:tgtEl>
                                      </p:cBhvr>
                                      <p:to x="100000" y="95000"/>
                                    </p:animScale>
                                    <p:animScale>
                                      <p:cBhvr>
                                        <p:cTn id="32" dur="166" decel="50000">
                                          <p:stCondLst>
                                            <p:cond delay="1834"/>
                                          </p:stCondLst>
                                        </p:cTn>
                                        <p:tgtEl>
                                          <p:spTgt spid="2"/>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45"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2000"/>
                                        <p:tgtEl>
                                          <p:spTgt spid="4"/>
                                        </p:tgtEl>
                                      </p:cBhvr>
                                    </p:animEffect>
                                    <p:anim calcmode="lin" valueType="num">
                                      <p:cBhvr>
                                        <p:cTn id="38" dur="2000" fill="hold"/>
                                        <p:tgtEl>
                                          <p:spTgt spid="4"/>
                                        </p:tgtEl>
                                        <p:attrNameLst>
                                          <p:attrName>ppt_w</p:attrName>
                                        </p:attrNameLst>
                                      </p:cBhvr>
                                      <p:tavLst>
                                        <p:tav tm="0" fmla="#ppt_w*sin(2.5*pi*$)">
                                          <p:val>
                                            <p:fltVal val="0"/>
                                          </p:val>
                                        </p:tav>
                                        <p:tav tm="100000">
                                          <p:val>
                                            <p:fltVal val="1"/>
                                          </p:val>
                                        </p:tav>
                                      </p:tavLst>
                                    </p:anim>
                                    <p:anim calcmode="lin" valueType="num">
                                      <p:cBhvr>
                                        <p:cTn id="3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3AD2B04D-1917-6D96-1DAC-BC5E6AE45394}"/>
              </a:ext>
            </a:extLst>
          </p:cNvPr>
          <p:cNvGraphicFramePr>
            <a:graphicFrameLocks noGrp="1"/>
          </p:cNvGraphicFramePr>
          <p:nvPr>
            <p:extLst>
              <p:ext uri="{D42A27DB-BD31-4B8C-83A1-F6EECF244321}">
                <p14:modId xmlns:p14="http://schemas.microsoft.com/office/powerpoint/2010/main" val="3006054108"/>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1225712991"/>
                    </a:ext>
                  </a:extLst>
                </a:gridCol>
              </a:tblGrid>
              <a:tr h="6858000">
                <a:tc>
                  <a:txBody>
                    <a:bodyPr/>
                    <a:lstStyle/>
                    <a:p>
                      <a:endParaRPr lang="en-IN" dirty="0"/>
                    </a:p>
                  </a:txBody>
                  <a:tcPr>
                    <a:solidFill>
                      <a:schemeClr val="bg2">
                        <a:lumMod val="50000"/>
                      </a:schemeClr>
                    </a:solidFill>
                  </a:tcPr>
                </a:tc>
                <a:extLst>
                  <a:ext uri="{0D108BD9-81ED-4DB2-BD59-A6C34878D82A}">
                    <a16:rowId xmlns:a16="http://schemas.microsoft.com/office/drawing/2014/main" val="3677732530"/>
                  </a:ext>
                </a:extLst>
              </a:tr>
            </a:tbl>
          </a:graphicData>
        </a:graphic>
      </p:graphicFrame>
      <p:sp>
        <p:nvSpPr>
          <p:cNvPr id="11" name="TextBox 10">
            <a:extLst>
              <a:ext uri="{FF2B5EF4-FFF2-40B4-BE49-F238E27FC236}">
                <a16:creationId xmlns:a16="http://schemas.microsoft.com/office/drawing/2014/main" id="{3FA9B6E1-E690-95AF-BB15-999372AED408}"/>
              </a:ext>
            </a:extLst>
          </p:cNvPr>
          <p:cNvSpPr txBox="1"/>
          <p:nvPr/>
        </p:nvSpPr>
        <p:spPr>
          <a:xfrm>
            <a:off x="4998027" y="1496291"/>
            <a:ext cx="3736070" cy="369332"/>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0FF4298A-F515-E296-E7AA-DBC629CAF972}"/>
              </a:ext>
            </a:extLst>
          </p:cNvPr>
          <p:cNvSpPr txBox="1"/>
          <p:nvPr/>
        </p:nvSpPr>
        <p:spPr>
          <a:xfrm>
            <a:off x="2899302" y="1029155"/>
            <a:ext cx="6244936" cy="1672936"/>
          </a:xfrm>
          <a:prstGeom prst="rect">
            <a:avLst/>
          </a:prstGeom>
          <a:noFill/>
        </p:spPr>
        <p:txBody>
          <a:bodyPr wrap="square" rtlCol="0">
            <a:spAutoFit/>
          </a:bodyPr>
          <a:lstStyle/>
          <a:p>
            <a:endParaRPr lang="en-IN" dirty="0"/>
          </a:p>
        </p:txBody>
      </p:sp>
      <p:sp>
        <p:nvSpPr>
          <p:cNvPr id="15" name="Rectangle 14">
            <a:extLst>
              <a:ext uri="{FF2B5EF4-FFF2-40B4-BE49-F238E27FC236}">
                <a16:creationId xmlns:a16="http://schemas.microsoft.com/office/drawing/2014/main" id="{17E88AC9-AEC6-A86F-DA1F-362918E2AF6D}"/>
              </a:ext>
            </a:extLst>
          </p:cNvPr>
          <p:cNvSpPr/>
          <p:nvPr/>
        </p:nvSpPr>
        <p:spPr>
          <a:xfrm>
            <a:off x="5538952" y="231228"/>
            <a:ext cx="5192110" cy="1200329"/>
          </a:xfrm>
          <a:prstGeom prst="rect">
            <a:avLst/>
          </a:prstGeom>
          <a:noFill/>
        </p:spPr>
        <p:txBody>
          <a:bodyPr wrap="square" lIns="91440" tIns="45720" rIns="91440" bIns="45720">
            <a:spAutoFit/>
          </a:bodyPr>
          <a:lstStyle/>
          <a:p>
            <a:pPr algn="ctr"/>
            <a:r>
              <a:rPr lang="en-US" sz="3600" b="1" u="sng" dirty="0">
                <a:ln w="0"/>
                <a:solidFill>
                  <a:srgbClr val="C00000"/>
                </a:solidFill>
                <a:effectLst>
                  <a:outerShdw blurRad="38100" dist="19050" dir="2700000" algn="tl" rotWithShape="0">
                    <a:schemeClr val="dk1">
                      <a:alpha val="40000"/>
                    </a:schemeClr>
                  </a:outerShdw>
                </a:effectLst>
              </a:rPr>
              <a:t>D</a:t>
            </a:r>
            <a:r>
              <a:rPr lang="en-US" sz="3600" b="1" u="sng" dirty="0">
                <a:ln w="0"/>
                <a:solidFill>
                  <a:schemeClr val="bg1"/>
                </a:solidFill>
                <a:effectLst>
                  <a:outerShdw blurRad="38100" dist="19050" dir="2700000" algn="tl" rotWithShape="0">
                    <a:schemeClr val="dk1">
                      <a:alpha val="40000"/>
                    </a:schemeClr>
                  </a:outerShdw>
                </a:effectLst>
              </a:rPr>
              <a:t>ata Wrangling : Outlier Detection and Handling</a:t>
            </a:r>
            <a:endParaRPr lang="en-US" sz="3600" b="1" u="sng" cap="none" spc="0" dirty="0">
              <a:ln w="0"/>
              <a:solidFill>
                <a:schemeClr val="bg1"/>
              </a:solidFill>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0B086DA9-45EA-E676-5A26-2DB60A8C3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 y="3191692"/>
            <a:ext cx="4508938" cy="3666308"/>
          </a:xfrm>
          <a:prstGeom prst="rect">
            <a:avLst/>
          </a:prstGeom>
        </p:spPr>
      </p:pic>
      <p:pic>
        <p:nvPicPr>
          <p:cNvPr id="5" name="Picture 4">
            <a:extLst>
              <a:ext uri="{FF2B5EF4-FFF2-40B4-BE49-F238E27FC236}">
                <a16:creationId xmlns:a16="http://schemas.microsoft.com/office/drawing/2014/main" id="{2CCEDB2E-D866-981F-11D9-448EE1761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14849" cy="3191691"/>
          </a:xfrm>
          <a:prstGeom prst="rect">
            <a:avLst/>
          </a:prstGeom>
        </p:spPr>
      </p:pic>
      <p:sp>
        <p:nvSpPr>
          <p:cNvPr id="13" name="Rectangle 12">
            <a:extLst>
              <a:ext uri="{FF2B5EF4-FFF2-40B4-BE49-F238E27FC236}">
                <a16:creationId xmlns:a16="http://schemas.microsoft.com/office/drawing/2014/main" id="{D03118E0-E03C-BE9C-373E-5B318C56D992}"/>
              </a:ext>
            </a:extLst>
          </p:cNvPr>
          <p:cNvSpPr/>
          <p:nvPr/>
        </p:nvSpPr>
        <p:spPr>
          <a:xfrm>
            <a:off x="5538952" y="3673403"/>
            <a:ext cx="4488968" cy="923330"/>
          </a:xfrm>
          <a:prstGeom prst="rect">
            <a:avLst/>
          </a:prstGeom>
          <a:noFill/>
        </p:spPr>
        <p:txBody>
          <a:bodyPr wrap="squar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6" name="Table 15">
            <a:extLst>
              <a:ext uri="{FF2B5EF4-FFF2-40B4-BE49-F238E27FC236}">
                <a16:creationId xmlns:a16="http://schemas.microsoft.com/office/drawing/2014/main" id="{1478FEDB-033D-8A8F-C30C-311F3CA69573}"/>
              </a:ext>
            </a:extLst>
          </p:cNvPr>
          <p:cNvGraphicFramePr>
            <a:graphicFrameLocks noGrp="1"/>
          </p:cNvGraphicFramePr>
          <p:nvPr>
            <p:extLst>
              <p:ext uri="{D42A27DB-BD31-4B8C-83A1-F6EECF244321}">
                <p14:modId xmlns:p14="http://schemas.microsoft.com/office/powerpoint/2010/main" val="2904126174"/>
              </p:ext>
            </p:extLst>
          </p:nvPr>
        </p:nvGraphicFramePr>
        <p:xfrm>
          <a:off x="4514849" y="1662784"/>
          <a:ext cx="7677151" cy="5195215"/>
        </p:xfrm>
        <a:graphic>
          <a:graphicData uri="http://schemas.openxmlformats.org/drawingml/2006/table">
            <a:tbl>
              <a:tblPr firstRow="1" bandRow="1">
                <a:tableStyleId>{5C22544A-7EE6-4342-B048-85BDC9FD1C3A}</a:tableStyleId>
              </a:tblPr>
              <a:tblGrid>
                <a:gridCol w="7677151">
                  <a:extLst>
                    <a:ext uri="{9D8B030D-6E8A-4147-A177-3AD203B41FA5}">
                      <a16:colId xmlns:a16="http://schemas.microsoft.com/office/drawing/2014/main" val="1950745321"/>
                    </a:ext>
                  </a:extLst>
                </a:gridCol>
              </a:tblGrid>
              <a:tr h="5195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u="sng" dirty="0">
                          <a:solidFill>
                            <a:srgbClr val="FF0000"/>
                          </a:solidFill>
                        </a:rPr>
                        <a:t>Detection of Outlier  Process</a:t>
                      </a:r>
                    </a:p>
                    <a:p>
                      <a:pPr algn="l"/>
                      <a:endParaRPr lang="en-US" sz="2000" b="0" i="0" u="none" dirty="0">
                        <a:solidFill>
                          <a:schemeClr val="tx1">
                            <a:lumMod val="95000"/>
                            <a:lumOff val="5000"/>
                          </a:schemeClr>
                        </a:solidFill>
                      </a:endParaRPr>
                    </a:p>
                    <a:p>
                      <a:pPr algn="l"/>
                      <a:r>
                        <a:rPr lang="en-US" sz="2400" b="1" i="0" u="none" dirty="0">
                          <a:solidFill>
                            <a:schemeClr val="tx1">
                              <a:lumMod val="95000"/>
                              <a:lumOff val="5000"/>
                            </a:schemeClr>
                          </a:solidFill>
                        </a:rPr>
                        <a:t>outlier deviation significantly from norm, can distort</a:t>
                      </a:r>
                    </a:p>
                    <a:p>
                      <a:pPr algn="l"/>
                      <a:r>
                        <a:rPr lang="en-US" sz="2400" b="1" i="0" u="none" dirty="0">
                          <a:solidFill>
                            <a:schemeClr val="tx1">
                              <a:lumMod val="95000"/>
                              <a:lumOff val="5000"/>
                            </a:schemeClr>
                          </a:solidFill>
                        </a:rPr>
                        <a:t>Measure of central tendency and affect statistical analyses. Utilize statistical method like scatter, </a:t>
                      </a:r>
                      <a:r>
                        <a:rPr lang="en-US" sz="2400" b="1" i="0" u="none" dirty="0" err="1">
                          <a:solidFill>
                            <a:schemeClr val="tx1">
                              <a:lumMod val="95000"/>
                              <a:lumOff val="5000"/>
                            </a:schemeClr>
                          </a:solidFill>
                        </a:rPr>
                        <a:t>dist</a:t>
                      </a:r>
                      <a:r>
                        <a:rPr lang="en-US" sz="2400" b="1" i="0" u="none" dirty="0">
                          <a:solidFill>
                            <a:schemeClr val="tx1">
                              <a:lumMod val="95000"/>
                              <a:lumOff val="5000"/>
                            </a:schemeClr>
                          </a:solidFill>
                        </a:rPr>
                        <a:t> plot, line plot. With the help IQR and Z-scores to detect the data.</a:t>
                      </a:r>
                    </a:p>
                    <a:p>
                      <a:pPr algn="ctr"/>
                      <a:endParaRPr lang="en-US" sz="2800" b="1" u="sng" dirty="0">
                        <a:solidFill>
                          <a:srgbClr val="FF0000"/>
                        </a:solidFill>
                      </a:endParaRPr>
                    </a:p>
                    <a:p>
                      <a:pPr algn="ctr"/>
                      <a:r>
                        <a:rPr lang="en-US" sz="2800" b="1" u="sng" dirty="0">
                          <a:solidFill>
                            <a:srgbClr val="FF0000"/>
                          </a:solidFill>
                        </a:rPr>
                        <a:t>Data Handling Process</a:t>
                      </a:r>
                    </a:p>
                    <a:p>
                      <a:r>
                        <a:rPr lang="en-US" sz="2400" dirty="0">
                          <a:solidFill>
                            <a:schemeClr val="tx1">
                              <a:lumMod val="95000"/>
                              <a:lumOff val="5000"/>
                            </a:schemeClr>
                          </a:solidFill>
                        </a:rPr>
                        <a:t>To find all the missing values in all the combining dataset by using some statistic technique like mean , median ,mode etc. and after that filling the values in the dataset. And merged all the data. And after that no outlier find after caping function used.  </a:t>
                      </a:r>
                      <a:endParaRPr lang="en-IN" sz="2400" dirty="0">
                        <a:solidFill>
                          <a:schemeClr val="tx1">
                            <a:lumMod val="95000"/>
                            <a:lumOff val="5000"/>
                          </a:schemeClr>
                        </a:solidFill>
                      </a:endParaRPr>
                    </a:p>
                  </a:txBody>
                  <a:tcPr/>
                </a:tc>
                <a:extLst>
                  <a:ext uri="{0D108BD9-81ED-4DB2-BD59-A6C34878D82A}">
                    <a16:rowId xmlns:a16="http://schemas.microsoft.com/office/drawing/2014/main" val="2460131668"/>
                  </a:ext>
                </a:extLst>
              </a:tr>
            </a:tbl>
          </a:graphicData>
        </a:graphic>
      </p:graphicFrame>
    </p:spTree>
    <p:extLst>
      <p:ext uri="{BB962C8B-B14F-4D97-AF65-F5344CB8AC3E}">
        <p14:creationId xmlns:p14="http://schemas.microsoft.com/office/powerpoint/2010/main" val="3316258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88CB4C-04B6-609E-BD7B-398D689F9BD1}"/>
              </a:ext>
            </a:extLst>
          </p:cNvPr>
          <p:cNvSpPr/>
          <p:nvPr/>
        </p:nvSpPr>
        <p:spPr>
          <a:xfrm>
            <a:off x="0" y="0"/>
            <a:ext cx="12192000" cy="6858000"/>
          </a:xfrm>
          <a:prstGeom prst="rect">
            <a:avLst/>
          </a:prstGeom>
          <a:solidFill>
            <a:schemeClr val="accent3"/>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C1A75C4B-E4F9-8FC1-3007-57CB74B59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0480"/>
            <a:ext cx="12192000" cy="5557520"/>
          </a:xfrm>
          <a:prstGeom prst="rect">
            <a:avLst/>
          </a:prstGeom>
          <a:solidFill>
            <a:schemeClr val="tx1"/>
          </a:solidFill>
        </p:spPr>
      </p:pic>
      <p:sp>
        <p:nvSpPr>
          <p:cNvPr id="7" name="Rectangle 6">
            <a:extLst>
              <a:ext uri="{FF2B5EF4-FFF2-40B4-BE49-F238E27FC236}">
                <a16:creationId xmlns:a16="http://schemas.microsoft.com/office/drawing/2014/main" id="{8F87EEEC-0C0C-9B5C-700A-B7B7CB535EFA}"/>
              </a:ext>
            </a:extLst>
          </p:cNvPr>
          <p:cNvSpPr/>
          <p:nvPr/>
        </p:nvSpPr>
        <p:spPr>
          <a:xfrm>
            <a:off x="0" y="0"/>
            <a:ext cx="12192000" cy="1300480"/>
          </a:xfrm>
          <a:prstGeom prst="rect">
            <a:avLst/>
          </a:prstGeom>
          <a:solidFill>
            <a:srgbClr val="99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u="sng" dirty="0">
                <a:solidFill>
                  <a:schemeClr val="bg2">
                    <a:lumMod val="10000"/>
                  </a:schemeClr>
                </a:solidFill>
              </a:rPr>
              <a:t>Graphically Represent</a:t>
            </a:r>
            <a:endParaRPr lang="en-IN" sz="4000" b="1" u="sng" dirty="0">
              <a:solidFill>
                <a:schemeClr val="bg2">
                  <a:lumMod val="10000"/>
                </a:schemeClr>
              </a:solidFill>
            </a:endParaRPr>
          </a:p>
        </p:txBody>
      </p:sp>
    </p:spTree>
    <p:extLst>
      <p:ext uri="{BB962C8B-B14F-4D97-AF65-F5344CB8AC3E}">
        <p14:creationId xmlns:p14="http://schemas.microsoft.com/office/powerpoint/2010/main" val="709063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732D7DF-F86C-DA57-1146-202191A81847}"/>
              </a:ext>
            </a:extLst>
          </p:cNvPr>
          <p:cNvGraphicFramePr>
            <a:graphicFrameLocks noGrp="1"/>
          </p:cNvGraphicFramePr>
          <p:nvPr>
            <p:extLst>
              <p:ext uri="{D42A27DB-BD31-4B8C-83A1-F6EECF244321}">
                <p14:modId xmlns:p14="http://schemas.microsoft.com/office/powerpoint/2010/main" val="2526845735"/>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1318215222"/>
                    </a:ext>
                  </a:extLst>
                </a:gridCol>
              </a:tblGrid>
              <a:tr h="6858000">
                <a:tc>
                  <a:txBody>
                    <a:bodyPr/>
                    <a:lstStyle/>
                    <a:p>
                      <a:endParaRPr lang="en-IN" dirty="0"/>
                    </a:p>
                  </a:txBody>
                  <a:tcPr>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10800000" scaled="1"/>
                      <a:tileRect/>
                    </a:gradFill>
                  </a:tcPr>
                </a:tc>
                <a:extLst>
                  <a:ext uri="{0D108BD9-81ED-4DB2-BD59-A6C34878D82A}">
                    <a16:rowId xmlns:a16="http://schemas.microsoft.com/office/drawing/2014/main" val="2318090098"/>
                  </a:ext>
                </a:extLst>
              </a:tr>
            </a:tbl>
          </a:graphicData>
        </a:graphic>
      </p:graphicFrame>
      <p:sp>
        <p:nvSpPr>
          <p:cNvPr id="6" name="Rectangle 5">
            <a:extLst>
              <a:ext uri="{FF2B5EF4-FFF2-40B4-BE49-F238E27FC236}">
                <a16:creationId xmlns:a16="http://schemas.microsoft.com/office/drawing/2014/main" id="{B4CDB9AA-8870-5BF8-81FD-2E1548F264B3}"/>
              </a:ext>
            </a:extLst>
          </p:cNvPr>
          <p:cNvSpPr/>
          <p:nvPr/>
        </p:nvSpPr>
        <p:spPr>
          <a:xfrm>
            <a:off x="3484880" y="0"/>
            <a:ext cx="5334000" cy="461665"/>
          </a:xfrm>
          <a:prstGeom prst="rect">
            <a:avLst/>
          </a:prstGeom>
          <a:noFill/>
        </p:spPr>
        <p:txBody>
          <a:bodyPr wrap="square" lIns="91440" tIns="45720" rIns="91440" bIns="45720">
            <a:spAutoFit/>
          </a:bodyPr>
          <a:lstStyle/>
          <a:p>
            <a:pPr algn="ctr"/>
            <a:r>
              <a:rPr lang="en-US" sz="2400" b="1" u="sng" dirty="0">
                <a:ln w="0"/>
                <a:solidFill>
                  <a:srgbClr val="FF0000"/>
                </a:solidFill>
                <a:latin typeface="Arial" panose="020B0604020202020204" pitchFamily="34" charset="0"/>
                <a:cs typeface="Arial" panose="020B0604020202020204" pitchFamily="34" charset="0"/>
              </a:rPr>
              <a:t>Visualization Techniques</a:t>
            </a:r>
            <a:endParaRPr lang="en-US" sz="2400" b="1" u="sng" cap="none" spc="0" dirty="0">
              <a:ln w="0"/>
              <a:solidFill>
                <a:srgbClr val="FF0000"/>
              </a:solidFill>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97CE8756-8214-BFC7-DCF9-229913B10C5E}"/>
              </a:ext>
            </a:extLst>
          </p:cNvPr>
          <p:cNvSpPr/>
          <p:nvPr/>
        </p:nvSpPr>
        <p:spPr>
          <a:xfrm>
            <a:off x="207010" y="5327142"/>
            <a:ext cx="2733040" cy="1310639"/>
          </a:xfrm>
          <a:prstGeom prst="round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BAR GRAPH</a:t>
            </a:r>
            <a:endParaRPr lang="en-IN" dirty="0"/>
          </a:p>
        </p:txBody>
      </p:sp>
      <p:sp>
        <p:nvSpPr>
          <p:cNvPr id="9" name="Rectangle: Rounded Corners 8">
            <a:extLst>
              <a:ext uri="{FF2B5EF4-FFF2-40B4-BE49-F238E27FC236}">
                <a16:creationId xmlns:a16="http://schemas.microsoft.com/office/drawing/2014/main" id="{D9EB4956-900F-025D-B88E-FC91F8231BC8}"/>
              </a:ext>
            </a:extLst>
          </p:cNvPr>
          <p:cNvSpPr/>
          <p:nvPr/>
        </p:nvSpPr>
        <p:spPr>
          <a:xfrm>
            <a:off x="157480" y="2219960"/>
            <a:ext cx="2733040" cy="1209040"/>
          </a:xfrm>
          <a:prstGeom prst="round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HEAT MAP GRAPH</a:t>
            </a:r>
            <a:endParaRPr lang="en-IN" dirty="0"/>
          </a:p>
        </p:txBody>
      </p:sp>
      <p:sp>
        <p:nvSpPr>
          <p:cNvPr id="10" name="Rectangle: Rounded Corners 9">
            <a:extLst>
              <a:ext uri="{FF2B5EF4-FFF2-40B4-BE49-F238E27FC236}">
                <a16:creationId xmlns:a16="http://schemas.microsoft.com/office/drawing/2014/main" id="{5888A556-74C0-1835-4AD2-528E13A3C787}"/>
              </a:ext>
            </a:extLst>
          </p:cNvPr>
          <p:cNvSpPr/>
          <p:nvPr/>
        </p:nvSpPr>
        <p:spPr>
          <a:xfrm>
            <a:off x="175260" y="3796283"/>
            <a:ext cx="2692400" cy="1310640"/>
          </a:xfrm>
          <a:prstGeom prst="round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SCATTER GRAPH</a:t>
            </a:r>
            <a:endParaRPr lang="en-IN" dirty="0"/>
          </a:p>
        </p:txBody>
      </p:sp>
      <p:sp>
        <p:nvSpPr>
          <p:cNvPr id="11" name="Rectangle: Rounded Corners 10">
            <a:extLst>
              <a:ext uri="{FF2B5EF4-FFF2-40B4-BE49-F238E27FC236}">
                <a16:creationId xmlns:a16="http://schemas.microsoft.com/office/drawing/2014/main" id="{D2743A85-2093-FF26-FEE0-14DBE7736ECB}"/>
              </a:ext>
            </a:extLst>
          </p:cNvPr>
          <p:cNvSpPr/>
          <p:nvPr/>
        </p:nvSpPr>
        <p:spPr>
          <a:xfrm>
            <a:off x="157480" y="726948"/>
            <a:ext cx="2651760" cy="1209040"/>
          </a:xfrm>
          <a:prstGeom prst="round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BOX PLOT GRAPH</a:t>
            </a:r>
            <a:endParaRPr lang="en-IN" dirty="0"/>
          </a:p>
        </p:txBody>
      </p:sp>
      <p:graphicFrame>
        <p:nvGraphicFramePr>
          <p:cNvPr id="12" name="Table 11">
            <a:extLst>
              <a:ext uri="{FF2B5EF4-FFF2-40B4-BE49-F238E27FC236}">
                <a16:creationId xmlns:a16="http://schemas.microsoft.com/office/drawing/2014/main" id="{2987AAF4-D4C8-5560-0BBF-E7C4F5267105}"/>
              </a:ext>
            </a:extLst>
          </p:cNvPr>
          <p:cNvGraphicFramePr>
            <a:graphicFrameLocks noGrp="1"/>
          </p:cNvGraphicFramePr>
          <p:nvPr>
            <p:extLst>
              <p:ext uri="{D42A27DB-BD31-4B8C-83A1-F6EECF244321}">
                <p14:modId xmlns:p14="http://schemas.microsoft.com/office/powerpoint/2010/main" val="3754493436"/>
              </p:ext>
            </p:extLst>
          </p:nvPr>
        </p:nvGraphicFramePr>
        <p:xfrm>
          <a:off x="3769043" y="461665"/>
          <a:ext cx="8422957" cy="6396335"/>
        </p:xfrm>
        <a:graphic>
          <a:graphicData uri="http://schemas.openxmlformats.org/drawingml/2006/table">
            <a:tbl>
              <a:tblPr firstRow="1" bandRow="1">
                <a:tableStyleId>{5C22544A-7EE6-4342-B048-85BDC9FD1C3A}</a:tableStyleId>
              </a:tblPr>
              <a:tblGrid>
                <a:gridCol w="8422957">
                  <a:extLst>
                    <a:ext uri="{9D8B030D-6E8A-4147-A177-3AD203B41FA5}">
                      <a16:colId xmlns:a16="http://schemas.microsoft.com/office/drawing/2014/main" val="3748595978"/>
                    </a:ext>
                  </a:extLst>
                </a:gridCol>
              </a:tblGrid>
              <a:tr h="63963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lumMod val="95000"/>
                              <a:lumOff val="5000"/>
                            </a:schemeClr>
                          </a:solidFill>
                          <a:effectLst/>
                          <a:latin typeface="+mn-lt"/>
                          <a:ea typeface="+mn-ea"/>
                          <a:cs typeface="+mn-cs"/>
                        </a:rPr>
                        <a:t>A box plot is a graphical representation of statistical data based on the </a:t>
                      </a:r>
                      <a:r>
                        <a:rPr lang="en-US" sz="2400" b="1" dirty="0">
                          <a:solidFill>
                            <a:schemeClr val="tx1">
                              <a:lumMod val="95000"/>
                              <a:lumOff val="5000"/>
                            </a:schemeClr>
                          </a:solidFill>
                          <a:effectLst/>
                        </a:rPr>
                        <a:t>minimum, first quartile, median, third quartile, and maximum.</a:t>
                      </a:r>
                      <a:endParaRPr lang="en-IN" sz="2400" b="1" dirty="0">
                        <a:solidFill>
                          <a:schemeClr val="tx1">
                            <a:lumMod val="95000"/>
                            <a:lumOff val="5000"/>
                          </a:schemeClr>
                        </a:solidFill>
                      </a:endParaRPr>
                    </a:p>
                    <a:p>
                      <a:endParaRPr lang="en-US" sz="2400" b="1" i="0" kern="1200" dirty="0">
                        <a:solidFill>
                          <a:schemeClr val="tx1">
                            <a:lumMod val="95000"/>
                            <a:lumOff val="5000"/>
                          </a:schemeClr>
                        </a:solidFill>
                        <a:effectLst/>
                        <a:latin typeface="+mn-lt"/>
                        <a:ea typeface="+mn-ea"/>
                        <a:cs typeface="+mn-cs"/>
                      </a:endParaRPr>
                    </a:p>
                    <a:p>
                      <a:r>
                        <a:rPr lang="en-US" sz="2400" b="1" i="0" kern="1200" dirty="0">
                          <a:solidFill>
                            <a:schemeClr val="tx1">
                              <a:lumMod val="95000"/>
                              <a:lumOff val="5000"/>
                            </a:schemeClr>
                          </a:solidFill>
                          <a:effectLst/>
                          <a:latin typeface="+mn-lt"/>
                          <a:ea typeface="+mn-ea"/>
                          <a:cs typeface="+mn-cs"/>
                        </a:rPr>
                        <a:t>Heatmap data visualization is a powerful tool used to represent numerical data graphically, where values are depicted using colors. This method is particularly effective for identifying patterns, trends, and anomalies within large datasets.</a:t>
                      </a:r>
                      <a:endParaRPr lang="en-IN" sz="2400" b="1" dirty="0">
                        <a:solidFill>
                          <a:schemeClr val="tx1">
                            <a:lumMod val="95000"/>
                            <a:lumOff val="5000"/>
                          </a:schemeClr>
                        </a:solidFill>
                      </a:endParaRP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lumMod val="95000"/>
                              <a:lumOff val="5000"/>
                            </a:schemeClr>
                          </a:solidFill>
                          <a:effectLst/>
                          <a:latin typeface="+mn-lt"/>
                          <a:ea typeface="+mn-ea"/>
                          <a:cs typeface="+mn-cs"/>
                        </a:rPr>
                        <a:t>A scatter chart shows the relationship between two different variables and it can reveal the distribution trends.</a:t>
                      </a:r>
                      <a:endParaRPr lang="en-IN" sz="2400" b="1" dirty="0">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1" i="0" kern="1200" dirty="0">
                        <a:solidFill>
                          <a:schemeClr val="tx1">
                            <a:lumMod val="95000"/>
                            <a:lumOff val="5000"/>
                          </a:schemeClr>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lumMod val="95000"/>
                              <a:lumOff val="5000"/>
                            </a:schemeClr>
                          </a:solidFill>
                          <a:effectLst/>
                          <a:latin typeface="+mn-lt"/>
                          <a:ea typeface="+mn-ea"/>
                          <a:cs typeface="+mn-cs"/>
                        </a:rPr>
                        <a:t>A bar graph can be defined as a graphical representation of data, quantities, or numbers using bars or strips. They are used to compare and contrast different types of data, frequencies, or other measures of distinct categories of data.</a:t>
                      </a:r>
                      <a:endParaRPr lang="en-IN" sz="2400" b="1" dirty="0">
                        <a:solidFill>
                          <a:schemeClr val="tx1">
                            <a:lumMod val="95000"/>
                            <a:lumOff val="5000"/>
                          </a:schemeClr>
                        </a:solidFill>
                      </a:endParaRPr>
                    </a:p>
                    <a:p>
                      <a:endParaRPr lang="en-US" sz="2400" b="0" i="0" kern="1200" dirty="0">
                        <a:solidFill>
                          <a:schemeClr val="tx1">
                            <a:lumMod val="95000"/>
                            <a:lumOff val="5000"/>
                          </a:schemeClr>
                        </a:solidFill>
                        <a:effectLst/>
                        <a:latin typeface="+mn-lt"/>
                        <a:ea typeface="+mn-ea"/>
                        <a:cs typeface="+mn-cs"/>
                      </a:endParaRPr>
                    </a:p>
                  </a:txBody>
                  <a:tcPr>
                    <a:solidFill>
                      <a:schemeClr val="tx2">
                        <a:lumMod val="60000"/>
                        <a:lumOff val="40000"/>
                      </a:schemeClr>
                    </a:solidFill>
                  </a:tcPr>
                </a:tc>
                <a:extLst>
                  <a:ext uri="{0D108BD9-81ED-4DB2-BD59-A6C34878D82A}">
                    <a16:rowId xmlns:a16="http://schemas.microsoft.com/office/drawing/2014/main" val="2550712614"/>
                  </a:ext>
                </a:extLst>
              </a:tr>
            </a:tbl>
          </a:graphicData>
        </a:graphic>
      </p:graphicFrame>
      <p:sp>
        <p:nvSpPr>
          <p:cNvPr id="13" name="Arrow: Notched Right 12">
            <a:extLst>
              <a:ext uri="{FF2B5EF4-FFF2-40B4-BE49-F238E27FC236}">
                <a16:creationId xmlns:a16="http://schemas.microsoft.com/office/drawing/2014/main" id="{8798C451-DE9A-31D7-323D-30F87B8FE84A}"/>
              </a:ext>
            </a:extLst>
          </p:cNvPr>
          <p:cNvSpPr/>
          <p:nvPr/>
        </p:nvSpPr>
        <p:spPr>
          <a:xfrm>
            <a:off x="3039745" y="1092676"/>
            <a:ext cx="670560" cy="484632"/>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Notched Right 13">
            <a:extLst>
              <a:ext uri="{FF2B5EF4-FFF2-40B4-BE49-F238E27FC236}">
                <a16:creationId xmlns:a16="http://schemas.microsoft.com/office/drawing/2014/main" id="{D2B885E5-0405-5101-0555-34C4ABE6986A}"/>
              </a:ext>
            </a:extLst>
          </p:cNvPr>
          <p:cNvSpPr/>
          <p:nvPr/>
        </p:nvSpPr>
        <p:spPr>
          <a:xfrm>
            <a:off x="2990215" y="2582164"/>
            <a:ext cx="670560" cy="484632"/>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Notched Right 14">
            <a:extLst>
              <a:ext uri="{FF2B5EF4-FFF2-40B4-BE49-F238E27FC236}">
                <a16:creationId xmlns:a16="http://schemas.microsoft.com/office/drawing/2014/main" id="{380B1BD9-21D6-DCFF-4145-7847C2D723B4}"/>
              </a:ext>
            </a:extLst>
          </p:cNvPr>
          <p:cNvSpPr/>
          <p:nvPr/>
        </p:nvSpPr>
        <p:spPr>
          <a:xfrm>
            <a:off x="2998788" y="4159472"/>
            <a:ext cx="670560" cy="484632"/>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Notched Right 15">
            <a:extLst>
              <a:ext uri="{FF2B5EF4-FFF2-40B4-BE49-F238E27FC236}">
                <a16:creationId xmlns:a16="http://schemas.microsoft.com/office/drawing/2014/main" id="{12B4083B-DA19-1CD4-BD30-482941B7D5C0}"/>
              </a:ext>
            </a:extLst>
          </p:cNvPr>
          <p:cNvSpPr/>
          <p:nvPr/>
        </p:nvSpPr>
        <p:spPr>
          <a:xfrm>
            <a:off x="3039745" y="5648960"/>
            <a:ext cx="670560" cy="484632"/>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697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DB29F8-F674-AE66-F712-A9441F84019F}"/>
              </a:ext>
            </a:extLst>
          </p:cNvPr>
          <p:cNvGraphicFramePr>
            <a:graphicFrameLocks noGrp="1"/>
          </p:cNvGraphicFramePr>
          <p:nvPr>
            <p:extLst>
              <p:ext uri="{D42A27DB-BD31-4B8C-83A1-F6EECF244321}">
                <p14:modId xmlns:p14="http://schemas.microsoft.com/office/powerpoint/2010/main" val="3016755067"/>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808217680"/>
                    </a:ext>
                  </a:extLst>
                </a:gridCol>
              </a:tblGrid>
              <a:tr h="6858000">
                <a:tc>
                  <a:txBody>
                    <a:bodyPr/>
                    <a:lstStyle/>
                    <a:p>
                      <a:endParaRPr lang="en-IN" sz="2400" b="1" i="0" u="sng" strike="noStrike" kern="1200" baseline="0" dirty="0">
                        <a:solidFill>
                          <a:srgbClr val="FF0000"/>
                        </a:solidFill>
                        <a:latin typeface="Arial" panose="020B0604020202020204" pitchFamily="34" charset="0"/>
                        <a:ea typeface="+mn-ea"/>
                        <a:cs typeface="Arial" panose="020B0604020202020204" pitchFamily="34" charset="0"/>
                      </a:endParaRPr>
                    </a:p>
                    <a:p>
                      <a:endParaRPr lang="en-IN" sz="2400" b="1" i="0" u="sng" strike="noStrike" kern="1200" baseline="0" dirty="0">
                        <a:solidFill>
                          <a:srgbClr val="FF0000"/>
                        </a:solidFill>
                        <a:latin typeface="Arial" panose="020B0604020202020204" pitchFamily="34" charset="0"/>
                        <a:ea typeface="+mn-ea"/>
                        <a:cs typeface="Arial" panose="020B0604020202020204" pitchFamily="34" charset="0"/>
                      </a:endParaRPr>
                    </a:p>
                    <a:p>
                      <a:endParaRPr lang="en-IN" sz="2400" b="1" i="0" u="sng" strike="noStrike" kern="1200" baseline="0" dirty="0">
                        <a:solidFill>
                          <a:srgbClr val="FF0000"/>
                        </a:solidFill>
                        <a:latin typeface="Arial" panose="020B0604020202020204" pitchFamily="34" charset="0"/>
                        <a:ea typeface="+mn-ea"/>
                        <a:cs typeface="Arial" panose="020B0604020202020204" pitchFamily="34" charset="0"/>
                      </a:endParaRPr>
                    </a:p>
                    <a:p>
                      <a:endParaRPr lang="en-IN" sz="2400" b="1" i="0" u="sng" strike="noStrike" kern="1200" baseline="0" dirty="0">
                        <a:solidFill>
                          <a:srgbClr val="FF0000"/>
                        </a:solidFill>
                        <a:latin typeface="Arial" panose="020B0604020202020204" pitchFamily="34" charset="0"/>
                        <a:ea typeface="+mn-ea"/>
                        <a:cs typeface="Arial" panose="020B0604020202020204" pitchFamily="34" charset="0"/>
                      </a:endParaRPr>
                    </a:p>
                    <a:p>
                      <a:endParaRPr lang="en-IN" sz="2400" b="1" i="0" u="sng" strike="noStrike" kern="1200" baseline="0" dirty="0">
                        <a:solidFill>
                          <a:srgbClr val="FF0000"/>
                        </a:solidFill>
                        <a:latin typeface="Arial" panose="020B0604020202020204" pitchFamily="34" charset="0"/>
                        <a:ea typeface="+mn-ea"/>
                        <a:cs typeface="Arial" panose="020B0604020202020204" pitchFamily="34" charset="0"/>
                      </a:endParaRPr>
                    </a:p>
                    <a:p>
                      <a:r>
                        <a:rPr lang="en-IN" dirty="0"/>
                        <a:t>.</a:t>
                      </a:r>
                    </a:p>
                  </a:txBody>
                  <a:tcPr>
                    <a:gradFill flip="none" rotWithShape="1">
                      <a:gsLst>
                        <a:gs pos="0">
                          <a:srgbClr val="99FFCC">
                            <a:shade val="30000"/>
                            <a:satMod val="115000"/>
                          </a:srgbClr>
                        </a:gs>
                        <a:gs pos="50000">
                          <a:srgbClr val="99FFCC">
                            <a:shade val="67500"/>
                            <a:satMod val="115000"/>
                          </a:srgbClr>
                        </a:gs>
                        <a:gs pos="100000">
                          <a:srgbClr val="99FFCC">
                            <a:shade val="100000"/>
                            <a:satMod val="115000"/>
                          </a:srgbClr>
                        </a:gs>
                      </a:gsLst>
                      <a:lin ang="5400000" scaled="1"/>
                      <a:tileRect/>
                    </a:gradFill>
                  </a:tcPr>
                </a:tc>
                <a:extLst>
                  <a:ext uri="{0D108BD9-81ED-4DB2-BD59-A6C34878D82A}">
                    <a16:rowId xmlns:a16="http://schemas.microsoft.com/office/drawing/2014/main" val="2962911603"/>
                  </a:ext>
                </a:extLst>
              </a:tr>
            </a:tbl>
          </a:graphicData>
        </a:graphic>
      </p:graphicFrame>
      <p:sp>
        <p:nvSpPr>
          <p:cNvPr id="4" name="Rectangle 3">
            <a:extLst>
              <a:ext uri="{FF2B5EF4-FFF2-40B4-BE49-F238E27FC236}">
                <a16:creationId xmlns:a16="http://schemas.microsoft.com/office/drawing/2014/main" id="{55698551-E4E2-1E7C-4073-16B389DE61EE}"/>
              </a:ext>
            </a:extLst>
          </p:cNvPr>
          <p:cNvSpPr/>
          <p:nvPr/>
        </p:nvSpPr>
        <p:spPr>
          <a:xfrm>
            <a:off x="3373120" y="375920"/>
            <a:ext cx="4745645" cy="923330"/>
          </a:xfrm>
          <a:prstGeom prst="rect">
            <a:avLst/>
          </a:prstGeom>
          <a:noFill/>
        </p:spPr>
        <p:txBody>
          <a:bodyPr wrap="square" lIns="91440" tIns="45720" rIns="91440" bIns="45720">
            <a:spAutoFit/>
          </a:bodyPr>
          <a:lstStyle/>
          <a:p>
            <a:pPr algn="ctr"/>
            <a:r>
              <a:rPr lang="en-US" sz="5400" dirty="0">
                <a:ln w="0"/>
                <a:solidFill>
                  <a:srgbClr val="FF0000"/>
                </a:solidFill>
                <a:effectLst>
                  <a:outerShdw blurRad="38100" dist="19050" dir="2700000" algn="tl" rotWithShape="0">
                    <a:schemeClr val="dk1">
                      <a:alpha val="40000"/>
                    </a:schemeClr>
                  </a:outerShdw>
                </a:effectLst>
              </a:rPr>
              <a:t>C</a:t>
            </a:r>
            <a:r>
              <a:rPr lang="en-US" sz="5400" dirty="0">
                <a:ln w="0"/>
                <a:effectLst>
                  <a:outerShdw blurRad="38100" dist="19050" dir="2700000" algn="tl" rotWithShape="0">
                    <a:schemeClr val="dk1">
                      <a:alpha val="40000"/>
                    </a:schemeClr>
                  </a:outerShdw>
                </a:effectLst>
              </a:rPr>
              <a:t>ONCLUSION !</a:t>
            </a:r>
            <a:endParaRPr lang="en-US" sz="54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0" name="Table 9">
            <a:extLst>
              <a:ext uri="{FF2B5EF4-FFF2-40B4-BE49-F238E27FC236}">
                <a16:creationId xmlns:a16="http://schemas.microsoft.com/office/drawing/2014/main" id="{229EF05C-1CE1-F5BE-60ED-1C18A4447812}"/>
              </a:ext>
            </a:extLst>
          </p:cNvPr>
          <p:cNvGraphicFramePr>
            <a:graphicFrameLocks noGrp="1"/>
          </p:cNvGraphicFramePr>
          <p:nvPr>
            <p:extLst>
              <p:ext uri="{D42A27DB-BD31-4B8C-83A1-F6EECF244321}">
                <p14:modId xmlns:p14="http://schemas.microsoft.com/office/powerpoint/2010/main" val="3945254998"/>
              </p:ext>
            </p:extLst>
          </p:nvPr>
        </p:nvGraphicFramePr>
        <p:xfrm>
          <a:off x="2032000" y="2367280"/>
          <a:ext cx="8757920" cy="4480560"/>
        </p:xfrm>
        <a:graphic>
          <a:graphicData uri="http://schemas.openxmlformats.org/drawingml/2006/table">
            <a:tbl>
              <a:tblPr firstRow="1" bandRow="1">
                <a:tableStyleId>{5C22544A-7EE6-4342-B048-85BDC9FD1C3A}</a:tableStyleId>
              </a:tblPr>
              <a:tblGrid>
                <a:gridCol w="8757920">
                  <a:extLst>
                    <a:ext uri="{9D8B030D-6E8A-4147-A177-3AD203B41FA5}">
                      <a16:colId xmlns:a16="http://schemas.microsoft.com/office/drawing/2014/main" val="1733483102"/>
                    </a:ext>
                  </a:extLst>
                </a:gridCol>
              </a:tblGrid>
              <a:tr h="3708400">
                <a:tc>
                  <a:txBody>
                    <a:bodyPr/>
                    <a:lstStyle/>
                    <a:p>
                      <a:r>
                        <a:rPr lang="en-US" sz="2400" b="1" dirty="0">
                          <a:solidFill>
                            <a:schemeClr val="tx1">
                              <a:lumMod val="95000"/>
                              <a:lumOff val="5000"/>
                            </a:schemeClr>
                          </a:solidFill>
                        </a:rPr>
                        <a:t>Here , this  project is very interesting on topic of data harmonization and insights extraction. </a:t>
                      </a:r>
                      <a:r>
                        <a:rPr lang="en-IN" sz="2400" b="1" dirty="0">
                          <a:solidFill>
                            <a:schemeClr val="tx1">
                              <a:lumMod val="95000"/>
                              <a:lumOff val="5000"/>
                            </a:schemeClr>
                          </a:solidFill>
                        </a:rPr>
                        <a:t>In this project I have found values extraction , cleaning , merging and graphically representing. </a:t>
                      </a:r>
                    </a:p>
                    <a:p>
                      <a:r>
                        <a:rPr lang="en-IN" sz="2400" b="1" dirty="0">
                          <a:solidFill>
                            <a:schemeClr val="tx1">
                              <a:lumMod val="95000"/>
                              <a:lumOff val="5000"/>
                            </a:schemeClr>
                          </a:solidFill>
                        </a:rPr>
                        <a:t>So, I would like to share my experience with this project .so how to working on missing data . As well as more skill developed and research.  It will be more helpful for IT Industry</a:t>
                      </a:r>
                    </a:p>
                    <a:p>
                      <a:endParaRPr lang="en-US" sz="2400" b="0" dirty="0">
                        <a:solidFill>
                          <a:schemeClr val="tx1">
                            <a:lumMod val="95000"/>
                            <a:lumOff val="5000"/>
                          </a:schemeClr>
                        </a:solidFill>
                      </a:endParaRPr>
                    </a:p>
                    <a:p>
                      <a:r>
                        <a:rPr lang="en-US" sz="2400" b="0" dirty="0">
                          <a:solidFill>
                            <a:schemeClr val="tx1">
                              <a:lumMod val="95000"/>
                              <a:lumOff val="5000"/>
                            </a:schemeClr>
                          </a:solidFill>
                        </a:rPr>
                        <a:t>          </a:t>
                      </a:r>
                    </a:p>
                    <a:p>
                      <a:endParaRPr lang="en-US" sz="2400" b="0" dirty="0">
                        <a:solidFill>
                          <a:schemeClr val="tx1">
                            <a:lumMod val="95000"/>
                            <a:lumOff val="5000"/>
                          </a:schemeClr>
                        </a:solidFill>
                      </a:endParaRPr>
                    </a:p>
                    <a:p>
                      <a:r>
                        <a:rPr lang="en-US" sz="2400" b="1" dirty="0">
                          <a:solidFill>
                            <a:schemeClr val="tx1">
                              <a:lumMod val="95000"/>
                              <a:lumOff val="5000"/>
                            </a:schemeClr>
                          </a:solidFill>
                        </a:rPr>
                        <a:t>THANKS FOR NEXT HIKES IT SOLUTION FOR GIVEN THIS PROJECT </a:t>
                      </a:r>
                    </a:p>
                    <a:p>
                      <a:endParaRPr lang="en-US" sz="2400" b="0" dirty="0">
                        <a:solidFill>
                          <a:schemeClr val="tx1">
                            <a:lumMod val="95000"/>
                            <a:lumOff val="5000"/>
                          </a:schemeClr>
                        </a:solidFill>
                      </a:endParaRPr>
                    </a:p>
                  </a:txBody>
                  <a:tcPr>
                    <a:solidFill>
                      <a:srgbClr val="00B0F0"/>
                    </a:solidFill>
                  </a:tcPr>
                </a:tc>
                <a:extLst>
                  <a:ext uri="{0D108BD9-81ED-4DB2-BD59-A6C34878D82A}">
                    <a16:rowId xmlns:a16="http://schemas.microsoft.com/office/drawing/2014/main" val="246754739"/>
                  </a:ext>
                </a:extLst>
              </a:tr>
            </a:tbl>
          </a:graphicData>
        </a:graphic>
      </p:graphicFrame>
    </p:spTree>
    <p:extLst>
      <p:ext uri="{BB962C8B-B14F-4D97-AF65-F5344CB8AC3E}">
        <p14:creationId xmlns:p14="http://schemas.microsoft.com/office/powerpoint/2010/main" val="3582802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258250E-43E3-D1FF-1963-D3B440265F22}"/>
              </a:ext>
            </a:extLst>
          </p:cNvPr>
          <p:cNvGraphicFramePr>
            <a:graphicFrameLocks noGrp="1"/>
          </p:cNvGraphicFramePr>
          <p:nvPr>
            <p:extLst>
              <p:ext uri="{D42A27DB-BD31-4B8C-83A1-F6EECF244321}">
                <p14:modId xmlns:p14="http://schemas.microsoft.com/office/powerpoint/2010/main" val="3333748992"/>
              </p:ext>
            </p:extLst>
          </p:nvPr>
        </p:nvGraphicFramePr>
        <p:xfrm>
          <a:off x="0" y="0"/>
          <a:ext cx="12192000" cy="685800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624730537"/>
                    </a:ext>
                  </a:extLst>
                </a:gridCol>
              </a:tblGrid>
              <a:tr h="6858000">
                <a:tc>
                  <a:txBody>
                    <a:bodyPr/>
                    <a:lstStyle/>
                    <a:p>
                      <a:endParaRPr lang="en-IN" dirty="0">
                        <a:solidFill>
                          <a:srgbClr val="92D050"/>
                        </a:solidFill>
                      </a:endParaRPr>
                    </a:p>
                  </a:txBody>
                  <a:tcPr>
                    <a:solidFill>
                      <a:schemeClr val="bg2">
                        <a:lumMod val="50000"/>
                      </a:schemeClr>
                    </a:solidFill>
                  </a:tcPr>
                </a:tc>
                <a:extLst>
                  <a:ext uri="{0D108BD9-81ED-4DB2-BD59-A6C34878D82A}">
                    <a16:rowId xmlns:a16="http://schemas.microsoft.com/office/drawing/2014/main" val="4014733800"/>
                  </a:ext>
                </a:extLst>
              </a:tr>
            </a:tbl>
          </a:graphicData>
        </a:graphic>
      </p:graphicFrame>
      <p:sp>
        <p:nvSpPr>
          <p:cNvPr id="4" name="Rectangle 3">
            <a:extLst>
              <a:ext uri="{FF2B5EF4-FFF2-40B4-BE49-F238E27FC236}">
                <a16:creationId xmlns:a16="http://schemas.microsoft.com/office/drawing/2014/main" id="{0AA83314-C37D-C78E-4216-D1E44867FB2C}"/>
              </a:ext>
            </a:extLst>
          </p:cNvPr>
          <p:cNvSpPr/>
          <p:nvPr/>
        </p:nvSpPr>
        <p:spPr>
          <a:xfrm>
            <a:off x="4073876" y="2967335"/>
            <a:ext cx="4044249" cy="923330"/>
          </a:xfrm>
          <a:prstGeom prst="rect">
            <a:avLst/>
          </a:prstGeom>
          <a:noFill/>
        </p:spPr>
        <p:txBody>
          <a:bodyPr wrap="none" lIns="91440" tIns="45720" rIns="91440" bIns="45720">
            <a:spAutoFit/>
          </a:bodyPr>
          <a:lstStyle/>
          <a:p>
            <a:pPr algn="ctr"/>
            <a:r>
              <a:rPr lang="en-US" sz="5400" b="1" u="sng" cap="none" spc="0" dirty="0">
                <a:ln w="0"/>
                <a:solidFill>
                  <a:srgbClr val="FFC000"/>
                </a:solidFill>
                <a:effectLst>
                  <a:outerShdw blurRad="38100" dist="19050" dir="2700000" algn="tl" rotWithShape="0">
                    <a:schemeClr val="dk1">
                      <a:alpha val="40000"/>
                    </a:schemeClr>
                  </a:outerShdw>
                </a:effectLst>
              </a:rPr>
              <a:t>THANK YOU </a:t>
            </a:r>
          </a:p>
        </p:txBody>
      </p:sp>
    </p:spTree>
    <p:extLst>
      <p:ext uri="{BB962C8B-B14F-4D97-AF65-F5344CB8AC3E}">
        <p14:creationId xmlns:p14="http://schemas.microsoft.com/office/powerpoint/2010/main" val="3524886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1233</TotalTime>
  <Words>868</Words>
  <Application>Microsoft Office PowerPoint</Application>
  <PresentationFormat>Widescreen</PresentationFormat>
  <Paragraphs>85</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 Display</vt:lpstr>
      <vt:lpstr>Arial</vt:lpstr>
      <vt:lpstr>Arial Black</vt:lpstr>
      <vt:lpstr>Calibri</vt:lpstr>
      <vt:lpstr>Tw Cen MT</vt:lpstr>
      <vt:lpstr>Tw Cen MT Condensed</vt:lpstr>
      <vt:lpstr>Wingdings 3</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53</cp:revision>
  <dcterms:created xsi:type="dcterms:W3CDTF">2025-01-09T17:20:39Z</dcterms:created>
  <dcterms:modified xsi:type="dcterms:W3CDTF">2025-01-13T08:03:39Z</dcterms:modified>
</cp:coreProperties>
</file>